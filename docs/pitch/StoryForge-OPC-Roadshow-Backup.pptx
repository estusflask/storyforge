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37914e2fa0434a" /><Relationship Type="http://schemas.openxmlformats.org/officeDocument/2006/relationships/extended-properties" Target="/docProps/app.xml" Id="Rd9a9304c0b6d42ef" /><Relationship Type="http://schemas.openxmlformats.org/officeDocument/2006/relationships/officeDocument" Target="/ppt/presentation.xml" Id="R6f352a8f2d474d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254791306e49aa"/>
  </p:sldMasterIdLst>
  <p:notesMasterIdLst>
    <p:notesMasterId xmlns:r="http://schemas.openxmlformats.org/officeDocument/2006/relationships" r:id="Rae7f6cf887f14cd8"/>
  </p:notesMasterIdLst>
  <p:sldIdLst>
    <p:sldId xmlns:r="http://schemas.openxmlformats.org/officeDocument/2006/relationships" id="256" r:id="Rdb5cde5cfdde450e"/>
    <p:sldId xmlns:r="http://schemas.openxmlformats.org/officeDocument/2006/relationships" id="257" r:id="R2e88d8c034854d84"/>
    <p:sldId xmlns:r="http://schemas.openxmlformats.org/officeDocument/2006/relationships" id="258" r:id="Re429953f6d0f400d"/>
    <p:sldId xmlns:r="http://schemas.openxmlformats.org/officeDocument/2006/relationships" id="259" r:id="R7e7641f937f64b16"/>
    <p:sldId xmlns:r="http://schemas.openxmlformats.org/officeDocument/2006/relationships" id="260" r:id="R969c7321bce24503"/>
    <p:sldId xmlns:r="http://schemas.openxmlformats.org/officeDocument/2006/relationships" id="261" r:id="R56440e013180460b"/>
    <p:sldId xmlns:r="http://schemas.openxmlformats.org/officeDocument/2006/relationships" id="262" r:id="R421496c690a040a0"/>
    <p:sldId xmlns:r="http://schemas.openxmlformats.org/officeDocument/2006/relationships" id="263" r:id="R3f0d1b1f7dd04b12"/>
    <p:sldId xmlns:r="http://schemas.openxmlformats.org/officeDocument/2006/relationships" id="264" r:id="R72938f326d3649e0"/>
    <p:sldId xmlns:r="http://schemas.openxmlformats.org/officeDocument/2006/relationships" id="265" r:id="R203b4ed912e74fb7"/>
    <p:sldId xmlns:r="http://schemas.openxmlformats.org/officeDocument/2006/relationships" id="266" r:id="R296829ab9bb041fb"/>
    <p:sldId xmlns:r="http://schemas.openxmlformats.org/officeDocument/2006/relationships" id="267" r:id="Ra4ca88ce2ac34c5a"/>
    <p:sldId xmlns:r="http://schemas.openxmlformats.org/officeDocument/2006/relationships" id="268" r:id="R7bdb30658f894062"/>
    <p:sldId xmlns:r="http://schemas.openxmlformats.org/officeDocument/2006/relationships" id="269" r:id="R7613035599a24427"/>
    <p:sldId xmlns:r="http://schemas.openxmlformats.org/officeDocument/2006/relationships" id="270" r:id="R86f9f5002a514f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b509ddce124a71" /><Relationship Type="http://schemas.openxmlformats.org/officeDocument/2006/relationships/slideMaster" Target="/ppt/slideMasters/slideMaster1.xml" Id="R47254791306e49aa" /><Relationship Type="http://schemas.openxmlformats.org/officeDocument/2006/relationships/notesMaster" Target="/ppt/notesMasters/notesMaster1.xml" Id="Rae7f6cf887f14cd8" /><Relationship Type="http://schemas.openxmlformats.org/officeDocument/2006/relationships/presProps" Target="/ppt/presProps.xml" Id="R120629e6dc7441af" /><Relationship Type="http://schemas.openxmlformats.org/officeDocument/2006/relationships/tableStyles" Target="/ppt/tableStyles.xml" Id="Reb9cfe66fb644d27" /><Relationship Type="http://schemas.openxmlformats.org/officeDocument/2006/relationships/slide" Target="/ppt/slides/slide1.xml" Id="Rdb5cde5cfdde450e" /><Relationship Type="http://schemas.openxmlformats.org/officeDocument/2006/relationships/slide" Target="/ppt/slides/slide2.xml" Id="R2e88d8c034854d84" /><Relationship Type="http://schemas.openxmlformats.org/officeDocument/2006/relationships/slide" Target="/ppt/slides/slide3.xml" Id="Re429953f6d0f400d" /><Relationship Type="http://schemas.openxmlformats.org/officeDocument/2006/relationships/slide" Target="/ppt/slides/slide4.xml" Id="R7e7641f937f64b16" /><Relationship Type="http://schemas.openxmlformats.org/officeDocument/2006/relationships/slide" Target="/ppt/slides/slide5.xml" Id="R969c7321bce24503" /><Relationship Type="http://schemas.openxmlformats.org/officeDocument/2006/relationships/slide" Target="/ppt/slides/slide6.xml" Id="R56440e013180460b" /><Relationship Type="http://schemas.openxmlformats.org/officeDocument/2006/relationships/slide" Target="/ppt/slides/slide7.xml" Id="R421496c690a040a0" /><Relationship Type="http://schemas.openxmlformats.org/officeDocument/2006/relationships/slide" Target="/ppt/slides/slide8.xml" Id="R3f0d1b1f7dd04b12" /><Relationship Type="http://schemas.openxmlformats.org/officeDocument/2006/relationships/slide" Target="/ppt/slides/slide9.xml" Id="R72938f326d3649e0" /><Relationship Type="http://schemas.openxmlformats.org/officeDocument/2006/relationships/slide" Target="/ppt/slides/slide10.xml" Id="R203b4ed912e74fb7" /><Relationship Type="http://schemas.openxmlformats.org/officeDocument/2006/relationships/slide" Target="/ppt/slides/slide11.xml" Id="R296829ab9bb041fb" /><Relationship Type="http://schemas.openxmlformats.org/officeDocument/2006/relationships/slide" Target="/ppt/slides/slide12.xml" Id="Ra4ca88ce2ac34c5a" /><Relationship Type="http://schemas.openxmlformats.org/officeDocument/2006/relationships/slide" Target="/ppt/slides/slide13.xml" Id="R7bdb30658f894062" /><Relationship Type="http://schemas.openxmlformats.org/officeDocument/2006/relationships/slide" Target="/ppt/slides/slide14.xml" Id="R7613035599a24427" /><Relationship Type="http://schemas.openxmlformats.org/officeDocument/2006/relationships/slide" Target="/ppt/slides/slide15.xml" Id="R86f9f5002a514f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9723b5f61a49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585d27b9214097" /><Relationship Type="http://schemas.openxmlformats.org/officeDocument/2006/relationships/notesMaster" Target="/ppt/notesMasters/notesMaster1.xml" Id="R91684092daf648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f19b593d134b71" /><Relationship Type="http://schemas.openxmlformats.org/officeDocument/2006/relationships/notesMaster" Target="/ppt/notesMasters/notesMaster1.xml" Id="R84eb490882b145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fd4a720cf14d09" /><Relationship Type="http://schemas.openxmlformats.org/officeDocument/2006/relationships/notesMaster" Target="/ppt/notesMasters/notesMaster1.xml" Id="R74e56abec2f647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358b0afd944e0c" /><Relationship Type="http://schemas.openxmlformats.org/officeDocument/2006/relationships/notesMaster" Target="/ppt/notesMasters/notesMaster1.xml" Id="R3e7e1b3fd4f440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e97c12fc6d4b63" /><Relationship Type="http://schemas.openxmlformats.org/officeDocument/2006/relationships/notesMaster" Target="/ppt/notesMasters/notesMaster1.xml" Id="R37921f903bae4a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d8940a11ea4925" /><Relationship Type="http://schemas.openxmlformats.org/officeDocument/2006/relationships/notesMaster" Target="/ppt/notesMasters/notesMaster1.xml" Id="R67e48fd10d1d47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ed6aca3339477c" /><Relationship Type="http://schemas.openxmlformats.org/officeDocument/2006/relationships/notesMaster" Target="/ppt/notesMasters/notesMaster1.xml" Id="R7691e7ff981d44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b1802282b44d32" /><Relationship Type="http://schemas.openxmlformats.org/officeDocument/2006/relationships/notesMaster" Target="/ppt/notesMasters/notesMaster1.xml" Id="R81137157c45746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991cea6cc54c63" /><Relationship Type="http://schemas.openxmlformats.org/officeDocument/2006/relationships/notesMaster" Target="/ppt/notesMasters/notesMaster1.xml" Id="R509645d7b69a41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81966becce42e1" /><Relationship Type="http://schemas.openxmlformats.org/officeDocument/2006/relationships/notesMaster" Target="/ppt/notesMasters/notesMaster1.xml" Id="R39a0129ef5b24b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b8818117154957" /><Relationship Type="http://schemas.openxmlformats.org/officeDocument/2006/relationships/notesMaster" Target="/ppt/notesMasters/notesMaster1.xml" Id="R0e6bd1de6ef04c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432199d7894453" /><Relationship Type="http://schemas.openxmlformats.org/officeDocument/2006/relationships/notesMaster" Target="/ppt/notesMasters/notesMaster1.xml" Id="Rc9b640a5052a40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32886e1898146ac" /><Relationship Type="http://schemas.openxmlformats.org/officeDocument/2006/relationships/notesMaster" Target="/ppt/notesMasters/notesMaster1.xml" Id="Re45bb311a01f4a1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c996f6265c143ce" /><Relationship Type="http://schemas.openxmlformats.org/officeDocument/2006/relationships/notesMaster" Target="/ppt/notesMasters/notesMaster1.xml" Id="Ra01f6e9feaba41a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0b074d959ba49ea" /><Relationship Type="http://schemas.openxmlformats.org/officeDocument/2006/relationships/notesMaster" Target="/ppt/notesMasters/notesMaster1.xml" Id="R68cdf341443146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18 秒。AI 时代不缺一段内容，缺的是把一个想法持续做成作品，并让作品拥有后续生命的系统。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https://github.com/yuanbw2025/storyforge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25 秒。灵感到故事是一道断层，故事到内容资产是第二道断层。StoryForge 提供连续生产路径。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https://github.com/yuanbw2025/storyforge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28 秒。三个阶段依次回答：故事怎样形成、世界怎样运行、内容怎样进入社区生态。四种产品形态归属于可运行实例。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https://github.com/yuanbw2025/storyforge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22 秒。当前世界工作台已经存在；可执行叙事蓝图、统一实例和社区版本网络属于下一阶段。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https://github.com/yuanbw2025/storyforge</a:t>
            </a:r>
          </a:p>
          <a:p xmlns:a="http://schemas.openxmlformats.org/drawingml/2006/main">
            <a:r>
              <a:t>- https://github.com/yuanbw2025/storyforge/blob/main/docs/WORLD-ENGINE-COMMUNITY-ARCHITECTURE.md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25 秒。数百万字是目标能力边界，不是声称已经完成百万字公开基准。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https://github.com/yuanbw2025/storyforge</a:t>
            </a:r>
          </a:p>
          <a:p xmlns:a="http://schemas.openxmlformats.org/drawingml/2006/main">
            <a:r>
              <a:t>- https://github.com/yuanbw2025/storyforge/tree/main/docs/assets/feature-guide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18 秒。节点工作流证明产品不只有一种固定流程，并展示 AI 写回治理能力。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https://github.com/yuanbw2025/storyforge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25 秒。当前是单人/本地；真正多人协作依赖后续平台层，但会复用现有战役、骰子、战斗和回放基座。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https://github.com/yuanbw2025/storyforge/blob/main/docs/TTRPG-CAMPAIGN-DESIGN.md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20 秒。与通用陪聊的区别是：角色互动具有世界事实、角色快照和实例边界。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https://github.com/yuanbw2025/storyforge/blob/main/docs/CHATGAME-1-SINGLE-CHARACTER-DESIGN.md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27 秒。真实界面证明文字游戏已经进入产品导航和世界绑定体系；三种目标形态帮助评审理解产品方向与当前实验边界。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https://github.com/yuanbw2025/storyforge/blob/main/docs/INTERACTIVE-RUNTIME-ROADMAP.md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25 秒。不要把四个数字简单相加成 TAM；它们分别证明供给规模、创作者规模、AI 行为迁移和互动消费都已发生。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https://www.cass.cn/yaowen/202604/t20260414_5980410.shtml</a:t>
            </a:r>
          </a:p>
          <a:p xmlns:a="http://schemas.openxmlformats.org/drawingml/2006/main">
            <a:r>
              <a:t>- https://wyb.chinawriter.com.cn/Pad/content/202506/30/content79852.html</a:t>
            </a:r>
          </a:p>
          <a:p xmlns:a="http://schemas.openxmlformats.org/drawingml/2006/main">
            <a:r>
              <a:t>- https://home.episodeinteractive.com/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30 秒。GitHub 官方只提供近 14 天窗口，因此主页面只放最近 14 个完整归档日。所有事件量都不是独立人数。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https://github.com/yuanbw2025/storyforge</a:t>
            </a:r>
          </a:p>
          <a:p xmlns:a="http://schemas.openxmlformats.org/drawingml/2006/main">
            <a:r>
              <a:t>- https://docs.github.com/en/rest/metrics/traffic?apiVersion=2022-11-28</a:t>
            </a:r>
          </a:p>
          <a:p xmlns:a="http://schemas.openxmlformats.org/drawingml/2006/main">
            <a:r>
              <a:t>- https://github.com/yuanbw2025/storyforge/blob/main/data/traffic/views.csv</a:t>
            </a:r>
          </a:p>
          <a:p xmlns:a="http://schemas.openxmlformats.org/drawingml/2006/main">
            <a:r>
              <a:t>- https://github.com/yuanbw2025/storyforge/blob/main/data/traffic/clones.csv</a:t>
            </a:r>
          </a:p>
          <a:p xmlns:a="http://schemas.openxmlformats.org/drawingml/2006/main">
            <a:r>
              <a:t>- https://www.bilibili.com/video/BV1q37j6QExh/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22 秒。社区围绕世界版本和衍生关系形成内容网络。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https://github.com/yuanbw2025/storyforge/blob/main/docs/WORLD-ENGINE-COMMUNITY-ARCHITECTURE.md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25 秒。已有基座不是终点；下一步每项都沿当前架构自然扩展。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https://github.com/yuanbw2025/storyforge/blob/main/docs/roadmap/README.md</a:t>
            </a:r>
          </a:p>
          <a:p xmlns:a="http://schemas.openxmlformats.org/drawingml/2006/main">
            <a:r>
              <a:t>- https://github.com/yuanbw2025/storyforge/blob/main/docs/roadmap/CAPABILITY-BASELINE.md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25 秒。客观说明项目当前处于初期产品基座阶段；下一阶段集中完成产品闭环、公开案例、协作团队和社区生态。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https://github.com/yuanbw2025/storyforge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18 秒。最后回到愿景，把作品、世界引擎、多个形态和共同演化完整说清；感谢评审并进入问答。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https://github.com/yuanbw2025/storyforge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ab823764544e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d8d1488a7c4418" /><Relationship Type="http://schemas.openxmlformats.org/officeDocument/2006/relationships/slideLayout" Target="/ppt/slideLayouts/slideLayout1.xml" Id="R5ad6fb4a0a3448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d6fb4a0a3448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8f96310d74cda" /><Relationship Type="http://schemas.openxmlformats.org/officeDocument/2006/relationships/notesSlide" Target="/ppt/notesSlides/notesSlide1.xml" Id="R6080da0d2ac64b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8a77f46e34dca" /><Relationship Type="http://schemas.openxmlformats.org/officeDocument/2006/relationships/notesSlide" Target="/ppt/notesSlides/notesSlide2.xml" Id="R5cb862592efa4e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3a47548fd409c" /><Relationship Type="http://schemas.openxmlformats.org/officeDocument/2006/relationships/notesSlide" Target="/ppt/notesSlides/notesSlide3.xml" Id="R8ed21efb585b43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1c1ac4da5498f" /><Relationship Type="http://schemas.openxmlformats.org/officeDocument/2006/relationships/image" Target="/ppt/media/image.jpeg" Id="Ra9895fc44c214acc" /><Relationship Type="http://schemas.openxmlformats.org/officeDocument/2006/relationships/notesSlide" Target="/ppt/notesSlides/notesSlide4.xml" Id="Rc65cf05f4de643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71fc5df74452e" /><Relationship Type="http://schemas.openxmlformats.org/officeDocument/2006/relationships/image" Target="/ppt/media/image2.jpeg" Id="R1add355b21764923" /><Relationship Type="http://schemas.openxmlformats.org/officeDocument/2006/relationships/notesSlide" Target="/ppt/notesSlides/notesSlide5.xml" Id="R0a5958ea4e224e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8965d29ff4cc9" /><Relationship Type="http://schemas.openxmlformats.org/officeDocument/2006/relationships/image" Target="/ppt/media/image3.jpeg" Id="Rd1fee2f45c864604" /><Relationship Type="http://schemas.openxmlformats.org/officeDocument/2006/relationships/notesSlide" Target="/ppt/notesSlides/notesSlide6.xml" Id="R1c413083e95646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00bf4f85242ad" /><Relationship Type="http://schemas.openxmlformats.org/officeDocument/2006/relationships/image" Target="/ppt/media/image4.jpeg" Id="Rc7535480a6484dd5" /><Relationship Type="http://schemas.openxmlformats.org/officeDocument/2006/relationships/notesSlide" Target="/ppt/notesSlides/notesSlide7.xml" Id="R1a238e3511294b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99a5c2f524207" /><Relationship Type="http://schemas.openxmlformats.org/officeDocument/2006/relationships/image" Target="/ppt/media/image5.jpeg" Id="Reede13de3d2c4b94" /><Relationship Type="http://schemas.openxmlformats.org/officeDocument/2006/relationships/notesSlide" Target="/ppt/notesSlides/notesSlide8.xml" Id="R4b89ad00f10c48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5fd2458634558" /><Relationship Type="http://schemas.openxmlformats.org/officeDocument/2006/relationships/image" Target="/ppt/media/image6.jpeg" Id="Re9685aa5d0244003" /><Relationship Type="http://schemas.openxmlformats.org/officeDocument/2006/relationships/notesSlide" Target="/ppt/notesSlides/notesSlide9.xml" Id="R5508b4a6366541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558e16e1e48b4" /><Relationship Type="http://schemas.openxmlformats.org/officeDocument/2006/relationships/notesSlide" Target="/ppt/notesSlides/notesSlide10.xml" Id="Rce2cc1fe46554f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5ef2af2e0413f" /><Relationship Type="http://schemas.openxmlformats.org/officeDocument/2006/relationships/notesSlide" Target="/ppt/notesSlides/notesSlide11.xml" Id="R9174de5a9d9947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e8e1cf5914fff" /><Relationship Type="http://schemas.openxmlformats.org/officeDocument/2006/relationships/notesSlide" Target="/ppt/notesSlides/notesSlide12.xml" Id="Rf46d69fe326549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a6eb258fa4c11" /><Relationship Type="http://schemas.openxmlformats.org/officeDocument/2006/relationships/notesSlide" Target="/ppt/notesSlides/notesSlide13.xml" Id="Rccefd49a4efd47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b96a02a7c4608" /><Relationship Type="http://schemas.openxmlformats.org/officeDocument/2006/relationships/notesSlide" Target="/ppt/notesSlides/notesSlide14.xml" Id="R7b4ca21d6303442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f990f9b8f406e" /><Relationship Type="http://schemas.openxmlformats.org/officeDocument/2006/relationships/notesSlide" Target="/ppt/notesSlides/notesSlide15.xml" Id="Re97a578e88934a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F8775D-3661-4ED3-8E04-783C46EA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14375"/>
            <a:ext cx="3810000" cy="3810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A89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D581E-26E3-49B8-8A06-1111A0F2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143000"/>
            <a:ext cx="2952750" cy="2952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BBA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492BF-9F80-43D0-A7DA-71130D94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6212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9B873-DC74-41F6-B72B-9B6C7E35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19325"/>
            <a:ext cx="114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FFFDFA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FFFDFA"/>
                </a:solidFill>
                <a:latin typeface="Songti SC"/>
                <a:ea typeface="Songti SC"/>
                <a:cs typeface="Songti SC"/>
              </a:rPr>
              <a:t>故事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FFFDFA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FFFDFA"/>
                </a:solidFill>
                <a:latin typeface="Songti SC"/>
                <a:ea typeface="Songti SC"/>
                <a:cs typeface="Songti SC"/>
              </a:rPr>
              <a:t>熔炉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D8E45-E74F-42AB-B631-86D75FC0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781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40642-6206-4B9D-85DB-2AB91269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171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5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4C648-AACA-4271-8FEA-E4529689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5A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8B558-7FA8-4FBA-883E-95DE5312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A4513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A45137"/>
                </a:solidFill>
                <a:latin typeface="PingFang SC"/>
                <a:ea typeface="PingFang SC"/>
                <a:cs typeface="PingFang SC"/>
              </a:rPr>
              <a:t>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1642E-166A-4CC2-A542-256AB03F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53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53A35"/>
                </a:solidFill>
                <a:latin typeface="Songti SC"/>
                <a:ea typeface="Songti SC"/>
                <a:cs typeface="Songti SC"/>
              </a:defRPr>
            </a:pPr>
            <a:r>
              <a:rPr sz="1125" b="1">
                <a:solidFill>
                  <a:srgbClr val="253A35"/>
                </a:solidFill>
                <a:latin typeface="Songti SC"/>
                <a:ea typeface="Songti SC"/>
                <a:cs typeface="Songti SC"/>
              </a:rPr>
              <a:t>storyforge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18CBF-3DAC-4265-A097-3A43956B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85775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9B9183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9B9183"/>
                </a:solidFill>
                <a:latin typeface="Menlo"/>
                <a:ea typeface="Menlo"/>
                <a:cs typeface="Menlo"/>
              </a:rPr>
              <a:t>01 / 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6ED7D6-968F-4242-97DA-C6390BE7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29DE74-28D0-4054-AAB1-6B31BC87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01 项目主题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14589F-E415-4620-B620-F27C8BBA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2C3D2A-ABB0-45FA-A039-C0E03844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9A8C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9A8C"/>
                </a:solidFill>
                <a:latin typeface="Menlo"/>
                <a:ea typeface="Menlo"/>
                <a:cs typeface="Menlo"/>
              </a:rPr>
              <a:t>02 核心路径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C84849-E9C8-42D0-A4A2-7944B9D1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BAA97A-1FB2-4D37-8BFE-415DF8F2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9A8C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9A8C"/>
                </a:solidFill>
                <a:latin typeface="Menlo"/>
                <a:ea typeface="Menlo"/>
                <a:cs typeface="Menlo"/>
              </a:rPr>
              <a:t>03 衍生产品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3408B0-7A89-403D-AF2B-FC37CAC2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9FF602-1CE3-499E-88F9-9A826115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9A8C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9A8C"/>
                </a:solidFill>
                <a:latin typeface="Menlo"/>
                <a:ea typeface="Menlo"/>
                <a:cs typeface="Menlo"/>
              </a:rPr>
              <a:t>04 市场需求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9F0A68-1B5E-49AC-9CA3-FA7A3081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4A3EA5-4138-45D3-8319-6555F0DA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9A8C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9A8C"/>
                </a:solidFill>
                <a:latin typeface="Menlo"/>
                <a:ea typeface="Menlo"/>
                <a:cs typeface="Menlo"/>
              </a:rPr>
              <a:t>05 未来愿景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09A685-74D8-414C-8690-B49729F9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NARRATIVE WORLD OPERATING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66796A-2919-4955-9F20-B0896F1D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5400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5400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StoryForge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59B9CF-00E9-4A04-8DFB-44D13398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908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让一个想法成为真正的故事，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再让故事生长为可持续的世界。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209A51-802E-43CC-9B24-A6B73A0D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从自然语言到长篇作品、互动叙事与社区共创的完整生产路径</a:t>
            </a:r>
          </a:p>
        </p:txBody>
      </p:sp>
    </p:spTree>
    <p:extLst>
      <p:ext uri="{BB962C8B-B14F-4D97-AF65-F5344CB8AC3E}">
        <p14:creationId xmlns:p14="http://schemas.microsoft.com/office/powerpoint/2010/main" val="19654389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FBD6A1-8F47-4C93-A27C-FCE7B394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0F3F9-A8CF-474A-A016-4FAA5A18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0"/>
            <a:ext cx="142875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E2D6C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F7442-02AD-4796-9021-7D6835DD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528B3-6BD7-4E3E-9802-5B3800AC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01 项目主题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AC0FC-6768-4A38-A2BF-4B1335BF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91CFB-2B00-4EE3-A490-7D18BBC0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9A8C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9A8C"/>
                </a:solidFill>
                <a:latin typeface="Menlo"/>
                <a:ea typeface="Menlo"/>
                <a:cs typeface="Menlo"/>
              </a:rPr>
              <a:t>02 核心路径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FDCC4-C82A-4991-82F7-9ACE3229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7D4D3-21B3-48A2-8B3B-A68A2FAF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9A8C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9A8C"/>
                </a:solidFill>
                <a:latin typeface="Menlo"/>
                <a:ea typeface="Menlo"/>
                <a:cs typeface="Menlo"/>
              </a:rPr>
              <a:t>03 衍生产品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B2523-69E0-4186-B674-35949612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2F032-2733-434B-9243-CC3137D0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9A8C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9A8C"/>
                </a:solidFill>
                <a:latin typeface="Menlo"/>
                <a:ea typeface="Menlo"/>
                <a:cs typeface="Menlo"/>
              </a:rPr>
              <a:t>04 市场需求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0AC25-B302-487F-941F-1DD20E38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F5F1C-AC02-4A08-8A3D-16CD94BD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9A8C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9A8C"/>
                </a:solidFill>
                <a:latin typeface="Menlo"/>
                <a:ea typeface="Menlo"/>
                <a:cs typeface="Menlo"/>
              </a:rPr>
              <a:t>05 未来愿景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9C734-1DDB-404A-9503-72E89AF7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01  PROJECT THESIS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731028-87A9-4D9E-A6C3-ED5BA50B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381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9B9183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9B9183"/>
                </a:solidFill>
                <a:latin typeface="Menlo"/>
                <a:ea typeface="Menlo"/>
                <a:cs typeface="Menlo"/>
              </a:rPr>
              <a:t>02 / 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107DD4-D457-4710-9B20-D82A2C25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62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262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一个想法走向完整故事，再走向内容资产，仍然跨越两道断层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7C45BC-830E-4320-864E-207881C1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4861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9CFC7F-D993-4B7E-A323-DD388388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486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9AE637-B01F-45BE-BA4D-570BAE7F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01 · 灵感起点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49331B-6ADA-4E74-8B73-2C0272FA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想法缺少持续生长的结构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EF8A7C-875A-4ADB-A1BF-14FC8999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2990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975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主题、角色和冲突容易停留在零散灵感，创作者需要把它组织成能够推进、审校和完成的故事。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3C32DE-7EA3-4244-BF83-5DD7B576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9718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B459FA-FE52-49CB-8B06-27627912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34861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AB1132-AE3E-46BC-83B5-24FFB159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3486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D75592-49AE-4E5D-BCB1-F06BF09B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764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02 · 作品形成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D8A9FD-F33A-4C42-BD34-5EFA7266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76500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长故事需要跨越时间的一致性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166300-353A-470C-B160-FC6DC0C7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86125"/>
            <a:ext cx="2990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975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事实、人物、伏笔、节奏与文风要在漫长创作过程中持续协同，普通生成工具难以维护完整上下文。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FECC92-19F2-456A-A387-65A1CCD6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718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F9E73A-43B4-401E-969B-272F59AF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4861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5C5BC4-7890-43CC-8E63-C8ABC368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486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1201A1-3669-434F-9637-8714AA8A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03 · 价值延展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B24793-2FC5-40F3-9F32-90F6BB71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76500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故事需要进入新的内容生命周期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11F4D2-D2D7-41B4-8FAD-58DD4EC3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86125"/>
            <a:ext cx="2990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975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创作、游玩、分享和共同创作分散在不同工具中，故事背后的世界结构很难被继续利用。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03528E-D7B0-476F-9494-88CAC9B5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10896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BCBD08-65E0-49E9-BE3B-7A6DFC09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9EE851-4601-46F9-AAAE-9B5B004F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253A35"/>
                </a:solidFill>
                <a:latin typeface="Songti SC"/>
                <a:ea typeface="Songti SC"/>
                <a:cs typeface="Songti SC"/>
              </a:defRPr>
            </a:pPr>
            <a:r>
              <a:rPr sz="975" b="1">
                <a:solidFill>
                  <a:srgbClr val="253A35"/>
                </a:solidFill>
                <a:latin typeface="Songti SC"/>
                <a:ea typeface="Songti SC"/>
                <a:cs typeface="Songti SC"/>
              </a:rPr>
              <a:t>StoryForge 的解法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242D24-1400-4A06-982E-D2A9428D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1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把灵感组织成完整故事，以世界引擎沉淀可复用结构，再生成可运行、可分享、可共同创作的内容资产。</a:t>
            </a:r>
          </a:p>
        </p:txBody>
      </p:sp>
    </p:spTree>
    <p:extLst>
      <p:ext uri="{BB962C8B-B14F-4D97-AF65-F5344CB8AC3E}">
        <p14:creationId xmlns:p14="http://schemas.microsoft.com/office/powerpoint/2010/main" val="2380323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186A50A-7B8C-4C54-BE7E-4D9C7E07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18058-F0FB-4E96-9D34-1BA33832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0"/>
            <a:ext cx="142875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E2D6C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9A1F1-D462-4D86-AA2A-3E024A56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77D26-75AF-4768-9CCF-A9E3F9B2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01 项目主题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80FC9-D240-43C6-A1FD-34675226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533AD-6FAE-4F3A-96D2-74110908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02 核心路径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E49F9-D808-485E-9A31-957100D8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282D7-236B-419D-941A-D5A71883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9A8C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9A8C"/>
                </a:solidFill>
                <a:latin typeface="Menlo"/>
                <a:ea typeface="Menlo"/>
                <a:cs typeface="Menlo"/>
              </a:rPr>
              <a:t>03 衍生产品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C2F05-B9F9-4ABD-91AF-F61375D6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F79C52-D9C7-457B-AFBE-46CA6477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9A8C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9A8C"/>
                </a:solidFill>
                <a:latin typeface="Menlo"/>
                <a:ea typeface="Menlo"/>
                <a:cs typeface="Menlo"/>
              </a:rPr>
              <a:t>04 市场需求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DA858-240B-4D0F-BF76-8E04FF5F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C16196-4CBD-4A84-9F01-8A615079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9A8C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9A8C"/>
                </a:solidFill>
                <a:latin typeface="Menlo"/>
                <a:ea typeface="Menlo"/>
                <a:cs typeface="Menlo"/>
              </a:rPr>
              <a:t>05 未来愿景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AED6C-A535-4669-88DD-7D5AB346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02  CORE PATH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8EE27-9C35-47DD-A36C-688B8316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381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9B9183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9B9183"/>
                </a:solidFill>
                <a:latin typeface="Menlo"/>
                <a:ea typeface="Menlo"/>
                <a:cs typeface="Menlo"/>
              </a:rPr>
              <a:t>03 / 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BD4BF7-E072-4AD1-B352-09B418FD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62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262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StoryForge 让想法成为故事，让故事成为可持续的内容资产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E9C80-1982-4908-B343-0EC9CC4D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43075"/>
            <a:ext cx="2457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91CDD2-CD87-4332-9916-436E3911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STAGE 01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让想法成为故事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ECC8C1-B2A8-4688-AF18-16DA431C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43075"/>
            <a:ext cx="5410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D74325-8361-41EB-8BC7-47423A17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24050"/>
            <a:ext cx="5105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STAGE 02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让故事成为可运行资产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609F00-D964-45F6-9D96-ECEC6172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43075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9A3152-8D8C-41D9-9178-9E6CE408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24050"/>
            <a:ext cx="2266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STAGE 03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让内容进入共同生态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712811-37B2-44AC-8445-9BABAFF0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382326-BB3E-4D95-B680-C785BF8A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81325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12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一个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12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想法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0CC7CE-D260-4BD1-93E1-0B86CD5D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6507DF-CE0B-4AF6-BE3E-652FF25D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813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3EC252-B3CC-4815-8480-0E6804F9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81325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12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完整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12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故事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AED733-093F-4B42-A6BC-E1D0DB40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825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从自然语言形成可规划、可写作、可审校的故事结构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34A81E-6523-4CB8-B6BF-B78DF281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813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9525">
            <a:solidFill>
              <a:srgbClr val="253A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1FADF4-3C81-41F7-9F49-C42C95C8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52775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DFA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FFFDFA"/>
                </a:solidFill>
                <a:latin typeface="Songti SC"/>
                <a:ea typeface="Songti SC"/>
                <a:cs typeface="Songti SC"/>
              </a:rPr>
              <a:t>世界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DFA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FFFDFA"/>
                </a:solidFill>
                <a:latin typeface="Songti SC"/>
                <a:ea typeface="Songti SC"/>
                <a:cs typeface="Songti SC"/>
              </a:rPr>
              <a:t>引擎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FF69F8-B2B7-41A0-A8E0-E7D59065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099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0E0696-C793-4AE0-A48B-45DBAA1C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71750"/>
            <a:ext cx="32766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2AFA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AE333F-323B-4659-8E1F-E16DBAB1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527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可运行实例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508418-2573-4A7D-92B2-6125CE2A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33725"/>
            <a:ext cx="13525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BF7E62-CCA1-47B1-A04B-B0983462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86125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97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长篇小说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937BF3-51DE-45E5-951F-0F2DA8B3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33725"/>
            <a:ext cx="13525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FD8E02-6413-44E6-B3F1-DB6D5F66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86125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97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多人跑团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6FBC89-30DA-42E2-AB62-3E92DD39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76650"/>
            <a:ext cx="13525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2196EC-795D-47D4-AB0F-0C81D828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290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97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角色互动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5CEBA3-ABBC-42BF-A070-231B2BD5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76650"/>
            <a:ext cx="13525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7D9804-29B9-4DC5-99CC-8A9AEEFA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290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97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叙事游戏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663A15-8844-487D-9748-9D163335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世界事实与版本保持稳定；每种创作和游玩活动在独立实例中运行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73E968-43AF-4F8B-B27D-A32148A8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3D4E94-7499-455A-A6D8-92380C90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81325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12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分享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12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游玩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2DF9A9-914A-4C96-872A-F3C1EC32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0670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C618A7-EC27-43F3-89EF-9E63BD56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7813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9525">
            <a:solidFill>
              <a:srgbClr val="253A3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79111E-0BD8-40B5-B5B6-2A72DD6E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81325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FFFDFA"/>
                </a:solidFill>
                <a:latin typeface="Songti SC"/>
                <a:ea typeface="Songti SC"/>
                <a:cs typeface="Songti SC"/>
              </a:defRPr>
            </a:pPr>
            <a:r>
              <a:rPr sz="1125" b="1">
                <a:solidFill>
                  <a:srgbClr val="FFFDFA"/>
                </a:solidFill>
                <a:latin typeface="Songti SC"/>
                <a:ea typeface="Songti SC"/>
                <a:cs typeface="Songti SC"/>
              </a:rPr>
              <a:t>持续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FFFDFA"/>
                </a:solidFill>
                <a:latin typeface="Songti SC"/>
                <a:ea typeface="Songti SC"/>
                <a:cs typeface="Songti SC"/>
              </a:defRPr>
            </a:pPr>
            <a:r>
              <a:rPr sz="1125" b="1">
                <a:solidFill>
                  <a:srgbClr val="FFFDFA"/>
                </a:solidFill>
                <a:latin typeface="Songti SC"/>
                <a:ea typeface="Songti SC"/>
                <a:cs typeface="Songti SC"/>
              </a:rPr>
              <a:t>演化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395E18-A056-4F31-8788-F770A08C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814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825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发现、改编与共同创作保留来源和世界版本关系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C4DBA4-B5EE-4D32-B75F-1F535E9D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674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6CDC7E-3679-48DF-A6E5-4826DB3E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75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675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USER STORY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02E228-91A8-462A-AC0D-81D71950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381750"/>
            <a:ext cx="985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504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04A42"/>
                </a:solidFill>
                <a:latin typeface="PingFang SC"/>
                <a:ea typeface="PingFang SC"/>
                <a:cs typeface="PingFang SC"/>
              </a:rPr>
              <a:t>“我从一句设定开始完成故事；世界引擎保存其中的事实与规则，随后我和读者可以继续创作、游玩和分享。”</a:t>
            </a:r>
          </a:p>
        </p:txBody>
      </p:sp>
    </p:spTree>
    <p:extLst>
      <p:ext uri="{BB962C8B-B14F-4D97-AF65-F5344CB8AC3E}">
        <p14:creationId xmlns:p14="http://schemas.microsoft.com/office/powerpoint/2010/main" val="13151005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618C6A-0E2B-4F1F-AF93-95979B4B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4FADB-9A43-4ADF-A23C-21930C1A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0"/>
            <a:ext cx="142875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E2D6C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5A58B-CA82-4281-A846-60C4F7CE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B07DD-1BF2-4AF6-9582-10A4BF2E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01 项目主题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BCD7D-93A7-428A-B3F1-99E98DB7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0B2B1-5479-4A3E-9E45-740E2407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02 核心路径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8429A-49A0-4497-A2B9-BA27A5C1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155CD-4CE1-4023-AE94-11DCF35F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9A8C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9A8C"/>
                </a:solidFill>
                <a:latin typeface="Menlo"/>
                <a:ea typeface="Menlo"/>
                <a:cs typeface="Menlo"/>
              </a:rPr>
              <a:t>03 衍生产品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AA4D87-1D0C-418C-8AAE-86D4EAF6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26D97-F391-4B7A-B8AA-D359EFC9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9A8C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9A8C"/>
                </a:solidFill>
                <a:latin typeface="Menlo"/>
                <a:ea typeface="Menlo"/>
                <a:cs typeface="Menlo"/>
              </a:rPr>
              <a:t>04 市场需求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328E6-42D5-4B01-8D6C-2E3AEBAD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5882F-3ED7-4273-8F66-EC369D16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9A8C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9A8C"/>
                </a:solidFill>
                <a:latin typeface="Menlo"/>
                <a:ea typeface="Menlo"/>
                <a:cs typeface="Menlo"/>
              </a:rPr>
              <a:t>05 未来愿景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5CC94-9DFA-4FF7-A7C6-E8844347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03  FOUNDATION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97675-8AC4-4E6C-8515-4150932B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381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9B9183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9B9183"/>
                </a:solidFill>
                <a:latin typeface="Menlo"/>
                <a:ea typeface="Menlo"/>
                <a:cs typeface="Menlo"/>
              </a:rPr>
              <a:t>04 / 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B06A12-8B57-4CC0-849D-AD6EC478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292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世界引擎先于所有玩法：一套事实，多种叙事实例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5621F-31FC-47C0-8125-4E3EBF22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85925"/>
            <a:ext cx="1123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9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F59B71-7FEA-4155-AF80-CF3FFB57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1">
                <a:solidFill>
                  <a:srgbClr val="253A35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3A35"/>
                </a:solidFill>
                <a:latin typeface="PingFang SC"/>
                <a:ea typeface="PingFang SC"/>
                <a:cs typeface="PingFang SC"/>
              </a:rPr>
              <a:t>已形成工作台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E97853-131C-4C1D-B676-D666BA83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800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把设定从“提示词”升级为可继承、可冻结、可发布的世界资产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0346BB-E58E-48B6-B9D2-7C9BD3C8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1276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84EBCE-A9AB-4798-ABBF-7A727272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24200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Canon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29F420-2C7A-46A6-982A-A86A73A7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3337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世界事实与角色规则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D24207-A10D-4CA2-8018-414373BE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009900"/>
            <a:ext cx="1276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26978A-A478-40F8-9D4E-8D9BFDE1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124200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Blueprint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4A10F9-E237-426A-885C-2862A40C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337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故事、角色与叙事结构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733AB6-2EE0-4021-BB6C-615ECB9A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09900"/>
            <a:ext cx="1276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445990-6A41-47E7-96FD-99ED7FC9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124200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Instance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D8610C-AFF7-41B1-85DE-856F95EF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3337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写作与游玩状态隔离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0A102C-2573-42C3-BF4F-7F374378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4DD"/>
          </a:solidFill>
          <a:ln xmlns:a="http://schemas.openxmlformats.org/drawingml/2006/main" w="9525">
            <a:solidFill>
              <a:srgbClr val="D9B1A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A69D0D-6776-4DD1-B77C-DF607215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1905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6B150B-E79D-4F58-A53C-29524D81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86200"/>
            <a:ext cx="3895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同一世界被小说、跑团、聊天和游戏复用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4A5B46-1A4F-4CE5-8628-9E7F5BA7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71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4DD"/>
          </a:solidFill>
          <a:ln xmlns:a="http://schemas.openxmlformats.org/drawingml/2006/main" w="9525">
            <a:solidFill>
              <a:srgbClr val="D9B1A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DAF4AE-10FB-4992-8A03-7712330B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0075"/>
            <a:ext cx="1905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A8C98C-EBBD-450D-AC41-7A572BD9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52925"/>
            <a:ext cx="3895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发布版本不可变，实例事件不会反向污染 Canon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52DEF7-7AD9-4B95-B21D-60FDF1F7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4DD"/>
          </a:solidFill>
          <a:ln xmlns:a="http://schemas.openxmlformats.org/drawingml/2006/main" w="9525">
            <a:solidFill>
              <a:srgbClr val="D9B1A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09A502-1590-4D8F-8F89-F32ABA77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905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247D47-5204-4225-A55A-1BC27D19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19650"/>
            <a:ext cx="3895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本地优先：原稿与世界资料默认不上传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60A48D-B756-42EC-89EB-1F36F945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04975"/>
            <a:ext cx="6429375" cy="3981450"/>
          </a:xfrm>
          <a:prstGeom xmlns:a="http://schemas.openxmlformats.org/drawingml/2006/main" prst="roundRect">
            <a:avLst>
              <a:gd name="adj" fmla="val 2871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95fc44c214acc"/>
          <a:stretch xmlns:a="http://schemas.openxmlformats.org/drawingml/2006/main"/>
        </p:blipFill>
        <p:spPr>
          <a:xfrm xmlns:a="http://schemas.openxmlformats.org/drawingml/2006/main">
            <a:off x="5191125" y="1913295"/>
            <a:ext cx="6334125" cy="3564810"/>
          </a:xfrm>
          <a:prstGeom xmlns:a="http://schemas.openxmlformats.org/drawingml/2006/main" prst="roundRect">
            <a:avLst>
              <a:gd name="adj" fmla="val 1961"/>
            </a:avLst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4636E1-88EA-42BD-9FFA-21BD53DE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86690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312D">
              <a:alpha val="89804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91F8D8-A34E-42A8-B811-4BE50FFC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924050"/>
            <a:ext cx="9525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00" b="1">
                <a:solidFill>
                  <a:srgbClr val="FFFDFA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FFFDFA"/>
                </a:solidFill>
                <a:latin typeface="Menlo"/>
                <a:ea typeface="Menlo"/>
                <a:cs typeface="Menlo"/>
              </a:rPr>
              <a:t>ACTUAL PRODUCT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D85D23-E8CE-4559-88D8-B5B5B2F6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674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6142E6-A06B-43C3-96E4-D15C474D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75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675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USER STORY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D2D549-5F25-4B32-824B-487322B2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381750"/>
            <a:ext cx="985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504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04A42"/>
                </a:solidFill>
                <a:latin typeface="PingFang SC"/>
                <a:ea typeface="PingFang SC"/>
                <a:cs typeface="PingFang SC"/>
              </a:rPr>
              <a:t>“我只维护一次世界规则，小说续写、跑团战役和角色聊天都从同一个可信版本出发。”</a:t>
            </a:r>
          </a:p>
        </p:txBody>
      </p:sp>
    </p:spTree>
    <p:extLst>
      <p:ext uri="{BB962C8B-B14F-4D97-AF65-F5344CB8AC3E}">
        <p14:creationId xmlns:p14="http://schemas.microsoft.com/office/powerpoint/2010/main" val="15017416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0BEEA8-955A-4A09-B6C0-F7CDF3B5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2651A-C371-4D34-9614-62BB5CD3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0"/>
            <a:ext cx="142875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E2D6C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6D7E9-D7B5-48A8-BB81-0587CD8A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B242B-D4A5-49E0-AA64-679D8E32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01 项目主题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7A5C4-1F03-4B9C-AB8D-2BA53F42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72E85-8522-4F58-8F81-E9C131D7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02 核心路径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35E4B-DCE3-48D5-93C3-4787FF73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98341-F9C4-4C2A-9B6B-1EE255E2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03 衍生产品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26E98-66C4-497C-A58C-551CF7BD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E1896-AA59-4015-B73F-9D17DCDC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9A8C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9A8C"/>
                </a:solidFill>
                <a:latin typeface="Menlo"/>
                <a:ea typeface="Menlo"/>
                <a:cs typeface="Menlo"/>
              </a:rPr>
              <a:t>04 市场需求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4331E4-6036-4819-88E4-C9A5347A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34263-86C0-48EC-8B76-33AD0C24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9A8C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9A8C"/>
                </a:solidFill>
                <a:latin typeface="Menlo"/>
                <a:ea typeface="Menlo"/>
                <a:cs typeface="Menlo"/>
              </a:rPr>
              <a:t>05 未来愿景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83105-86EF-4775-8EAE-690A714C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04  LONG-FORM CREATION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86175C-3131-4FB5-88E2-57B413C5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381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9B9183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9B9183"/>
                </a:solidFill>
                <a:latin typeface="Menlo"/>
                <a:ea typeface="Menlo"/>
                <a:cs typeface="Menlo"/>
              </a:rPr>
              <a:t>05 / 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5A94B3-C94C-438C-AFD9-7250464F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7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277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长篇本身就是核心价值：目标是数百万字仍然记得前因后果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7E267-CD7D-42FC-997B-1EFC89FB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1314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9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1625E-5DF8-4854-AE91-66B5E0CF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1">
                <a:solidFill>
                  <a:srgbClr val="253A35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3A35"/>
                </a:solidFill>
                <a:latin typeface="PingFang SC"/>
                <a:ea typeface="PingFang SC"/>
                <a:cs typeface="PingFang SC"/>
              </a:rPr>
              <a:t>当前主要用户入口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902723-B241-4262-A5DB-0231514B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05025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225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百万字级一致性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6DC5E8-63D4-4A36-BE4D-999AC304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52725"/>
            <a:ext cx="414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系统把创作拆成可治理、可回查、可复用的结构，并按需组合当前章节需要的上下文。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2E7BD1-7BE3-4BE5-9CEE-E00EB200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94297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E4C075-6408-469F-97E7-C7D0BA83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19475"/>
            <a:ext cx="828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1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世界事实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AD7BB1-4814-4514-874D-DF6BD59F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004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A4513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A45137"/>
                </a:solidFill>
                <a:latin typeface="PingFang SC"/>
                <a:ea typeface="PingFang SC"/>
                <a:cs typeface="PingFang SC"/>
              </a:rPr>
              <a:t>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917D27-0415-4E12-9426-581DE35C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14700"/>
            <a:ext cx="94297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39C2F3-1DC8-4903-AEFA-716D90BD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419475"/>
            <a:ext cx="828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1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角色弧光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8CACE3-5CCE-45E0-946E-8BAC4A83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4004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A4513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A45137"/>
                </a:solidFill>
                <a:latin typeface="PingFang SC"/>
                <a:ea typeface="PingFang SC"/>
                <a:cs typeface="PingFang SC"/>
              </a:rPr>
              <a:t>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7B5E81-E629-410C-ABDC-F686A0D3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14700"/>
            <a:ext cx="94297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451FA7-EF22-4D7D-95E0-5E1E896A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19475"/>
            <a:ext cx="828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1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伏笔 / 状态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E337BE-6DC8-4D8A-8E49-F4971900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4004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A4513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A45137"/>
                </a:solidFill>
                <a:latin typeface="PingFang SC"/>
                <a:ea typeface="PingFang SC"/>
                <a:cs typeface="PingFang SC"/>
              </a:rPr>
              <a:t>+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FC3BE0-E4E8-4429-BBD0-2681F0B0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14700"/>
            <a:ext cx="94297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92D166-8EA0-4A2A-A9AA-18875391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19475"/>
            <a:ext cx="828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1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相关前文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1B08F0-8D62-492B-8466-E0B93D16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4DD"/>
          </a:solidFill>
          <a:ln xmlns:a="http://schemas.openxmlformats.org/drawingml/2006/main" w="9525">
            <a:solidFill>
              <a:srgbClr val="D9B1A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4900FE-A82B-4E6C-BFE0-166F957B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905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383A69-4CD4-479C-AF57-B77C7D5A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924300"/>
            <a:ext cx="3895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卷纲 → 章纲 → 场景 → 正文的分阶段工作流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0D4EE9-7185-4D3E-871B-EA66BEC0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00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4DD"/>
          </a:solidFill>
          <a:ln xmlns:a="http://schemas.openxmlformats.org/drawingml/2006/main" w="9525">
            <a:solidFill>
              <a:srgbClr val="D9B1A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8AC22D-33E7-495E-B912-17E6C8BF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1905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470D25-F6E2-4F6A-B766-F0D1AB8F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91025"/>
            <a:ext cx="3895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事实提取、影响分析、质量审校与章节记忆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0F2B44-2465-4254-A7F8-9BDFCDBE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4DD"/>
          </a:solidFill>
          <a:ln xmlns:a="http://schemas.openxmlformats.org/drawingml/2006/main" w="9525">
            <a:solidFill>
              <a:srgbClr val="D9B1A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8F2528-D5AC-4110-A1AB-FBDE8EBE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1905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749F89-DEB8-4F25-B73C-6EA6B54D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57750"/>
            <a:ext cx="3895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创作者确认后写回，保留人的控制权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2E9C03-9259-4E4D-985B-23716029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04975"/>
            <a:ext cx="6429375" cy="3981450"/>
          </a:xfrm>
          <a:prstGeom xmlns:a="http://schemas.openxmlformats.org/drawingml/2006/main" prst="roundRect">
            <a:avLst>
              <a:gd name="adj" fmla="val 2871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d355b21764923"/>
          <a:stretch xmlns:a="http://schemas.openxmlformats.org/drawingml/2006/main"/>
        </p:blipFill>
        <p:spPr>
          <a:xfrm xmlns:a="http://schemas.openxmlformats.org/drawingml/2006/main">
            <a:off x="5411153" y="1752600"/>
            <a:ext cx="5894070" cy="3886200"/>
          </a:xfrm>
          <a:prstGeom xmlns:a="http://schemas.openxmlformats.org/drawingml/2006/main" prst="roundRect">
            <a:avLst>
              <a:gd name="adj" fmla="val 1961"/>
            </a:avLst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61F6F4-6CDA-484C-B2DB-06AFA5D6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86690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312D">
              <a:alpha val="89804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219E5D-75E3-407C-9E51-5B31C737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924050"/>
            <a:ext cx="9525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00" b="1">
                <a:solidFill>
                  <a:srgbClr val="FFFDFA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FFFDFA"/>
                </a:solidFill>
                <a:latin typeface="Menlo"/>
                <a:ea typeface="Menlo"/>
                <a:cs typeface="Menlo"/>
              </a:rPr>
              <a:t>ACTUAL PRODUCT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20667C-D29B-46C5-8647-8E3FEB7E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674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686BB1-BB93-43C4-A970-E0454263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75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675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USER STORY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8B8A35-4D77-4E4D-A884-7D1FC8D7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381750"/>
            <a:ext cx="985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504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04A42"/>
                </a:solidFill>
                <a:latin typeface="PingFang SC"/>
                <a:ea typeface="PingFang SC"/>
                <a:cs typeface="PingFang SC"/>
              </a:rPr>
              <a:t>“我只想写网文：StoryForge 帮我维护卷章结构、角色关系和数百章之后仍要兑现的伏笔。”</a:t>
            </a:r>
          </a:p>
        </p:txBody>
      </p:sp>
    </p:spTree>
    <p:extLst>
      <p:ext uri="{BB962C8B-B14F-4D97-AF65-F5344CB8AC3E}">
        <p14:creationId xmlns:p14="http://schemas.microsoft.com/office/powerpoint/2010/main" val="2984430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FDA65E-4E40-4008-A6F0-E6C1CA1F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08CCE-7777-4B41-8C96-92F1BB95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0"/>
            <a:ext cx="142875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E2D6C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A47D1-9CDA-43B4-AF54-F7F23A5D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309F2-B704-43F3-9CC5-5D1975C9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01 项目主题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5A1BA-B1EA-4C7D-A20D-DA6858CC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F0ECA-C91C-4E24-A4AA-C2E1922F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02 核心路径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0C8D5-D200-4D55-9B7A-2E1D7FEA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962CD-AB2D-4FA5-AFE9-F083B01A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03 衍生产品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05272-7490-4B95-8970-60F463C5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E3B0A-D857-4B32-A081-A8A0B798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9A8C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9A8C"/>
                </a:solidFill>
                <a:latin typeface="Menlo"/>
                <a:ea typeface="Menlo"/>
                <a:cs typeface="Menlo"/>
              </a:rPr>
              <a:t>04 市场需求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A3517-5DB5-492F-83A4-692ED882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1A88B6-C2FC-4379-B01C-C3A6BA35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9A8C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9A8C"/>
                </a:solidFill>
                <a:latin typeface="Menlo"/>
                <a:ea typeface="Menlo"/>
                <a:cs typeface="Menlo"/>
              </a:rPr>
              <a:t>05 未来愿景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6ED817-700A-4A32-B2FA-EB6FCAA2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05  CREATIVE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67ABBA-CAAF-4201-AACC-5BB5304A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381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9B9183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9B9183"/>
                </a:solidFill>
                <a:latin typeface="Menlo"/>
                <a:ea typeface="Menlo"/>
                <a:cs typeface="Menlo"/>
              </a:rPr>
              <a:t>06 / 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85A1DB-F11F-4E7E-892B-428E7BA8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292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同一套底层数据，也能变成可观察、可回放的创作图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DAFB0A-CA6C-4B9F-BECF-167FD97E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85925"/>
            <a:ext cx="1123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9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D0DE96-D56F-42D0-9017-95CAA786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1">
                <a:solidFill>
                  <a:srgbClr val="253A35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3A35"/>
                </a:solidFill>
                <a:latin typeface="PingFang SC"/>
                <a:ea typeface="PingFang SC"/>
                <a:cs typeface="PingFang SC"/>
              </a:rPr>
              <a:t>高级创作入口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04A29-7A9D-43D5-A303-6B23FB0F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419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800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节点创作为进阶用户提供可自由编排的工作流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631BD0-5426-49B1-BB41-C06FB214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95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4DD"/>
          </a:solidFill>
          <a:ln xmlns:a="http://schemas.openxmlformats.org/drawingml/2006/main" w="9525">
            <a:solidFill>
              <a:srgbClr val="D9B1A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8A1B8A-C823-41FB-8EE0-5FDBA9F9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33725"/>
            <a:ext cx="1905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529A83-2E24-4A58-90FF-4B1ECC0E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76575"/>
            <a:ext cx="3895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自由连接世界观、故事、角色、执行控制和输出节点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EDD1A8-162A-48EC-8BA1-EE20223F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4DD"/>
          </a:solidFill>
          <a:ln xmlns:a="http://schemas.openxmlformats.org/drawingml/2006/main" w="9525">
            <a:solidFill>
              <a:srgbClr val="D9B1A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A9A61E-A00D-4EB6-AB69-16320545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1905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9079BB-D82A-420E-8291-007EF819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619500"/>
            <a:ext cx="3895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运行过程可观察、可回放，结果先成为候选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2BC2B3-D4E4-47A7-8F76-ED576218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814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4DD"/>
          </a:solidFill>
          <a:ln xmlns:a="http://schemas.openxmlformats.org/drawingml/2006/main" w="9525">
            <a:solidFill>
              <a:srgbClr val="D9B1A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C1A119-9E48-4DE2-B50C-4F02AD1D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9575"/>
            <a:ext cx="1905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A5881E-9FD5-4941-8C59-53A5C629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62425"/>
            <a:ext cx="3895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确认采纳后才写回项目，避免 AI 直接污染资料库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EB787E-99FA-4DFB-BE25-2B98A3D5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分步骤写作降低门槛；节点创作提供自由度。二者共享同一世界与治理边界。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680362-0CBC-4E11-9CC5-9AD9B3A6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04975"/>
            <a:ext cx="6429375" cy="3981450"/>
          </a:xfrm>
          <a:prstGeom xmlns:a="http://schemas.openxmlformats.org/drawingml/2006/main" prst="roundRect">
            <a:avLst>
              <a:gd name="adj" fmla="val 2871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fee2f45c864604"/>
          <a:stretch xmlns:a="http://schemas.openxmlformats.org/drawingml/2006/main"/>
        </p:blipFill>
        <p:spPr>
          <a:xfrm xmlns:a="http://schemas.openxmlformats.org/drawingml/2006/main">
            <a:off x="5191125" y="1913295"/>
            <a:ext cx="6334125" cy="3564810"/>
          </a:xfrm>
          <a:prstGeom xmlns:a="http://schemas.openxmlformats.org/drawingml/2006/main" prst="roundRect">
            <a:avLst>
              <a:gd name="adj" fmla="val 1961"/>
            </a:avLst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EC509A-B5A3-4E94-9404-44B3432C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86690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312D">
              <a:alpha val="89804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599D34-1864-40F0-B88D-5BCD3F9B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924050"/>
            <a:ext cx="9525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00" b="1">
                <a:solidFill>
                  <a:srgbClr val="FFFDFA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FFFDFA"/>
                </a:solidFill>
                <a:latin typeface="Menlo"/>
                <a:ea typeface="Menlo"/>
                <a:cs typeface="Menlo"/>
              </a:rPr>
              <a:t>ACTUAL PRODUCT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379FA6-2D27-4F7F-AEC0-62A8920A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674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AA8EB7-E06C-42F5-86AC-9D866F5B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75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675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USER STORY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B05D64-E9BD-467B-884D-D2B2DDD9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381750"/>
            <a:ext cx="985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504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04A42"/>
                </a:solidFill>
                <a:latin typeface="PingFang SC"/>
                <a:ea typeface="PingFang SC"/>
                <a:cs typeface="PingFang SC"/>
              </a:rPr>
              <a:t>“我不想按固定步骤写：我可以把角色支线、世界事件和审校节点组合成自己的生产线。”</a:t>
            </a:r>
          </a:p>
        </p:txBody>
      </p:sp>
    </p:spTree>
    <p:extLst>
      <p:ext uri="{BB962C8B-B14F-4D97-AF65-F5344CB8AC3E}">
        <p14:creationId xmlns:p14="http://schemas.microsoft.com/office/powerpoint/2010/main" val="1423287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978621-6B89-4248-9EC4-2387F1C5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3648F-49E3-4969-8073-AD72FF28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0"/>
            <a:ext cx="142875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E2D6C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0816F-4B10-4414-A800-C0D36298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EA1FF-9400-41FB-8E9D-AB9F4521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01 项目主题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40A8C-07F1-46A8-880C-301C56BC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9085A-1100-4D9B-B099-D0BCE9F4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02 核心路径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DE23A-998B-420B-A6DB-33794A8E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1B2F1-3CE6-4261-9FB3-BB8A0FC1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03 衍生产品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85B86-C67B-4C2E-B71F-70BB5FD4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63611-F1D2-4C4F-B234-9EC37638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9A8C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9A8C"/>
                </a:solidFill>
                <a:latin typeface="Menlo"/>
                <a:ea typeface="Menlo"/>
                <a:cs typeface="Menlo"/>
              </a:rPr>
              <a:t>04 市场需求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8EF110-692D-42BB-A8A8-D4444F3E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75ABC-D535-406F-A818-59D9E6B2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9A8C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9A8C"/>
                </a:solidFill>
                <a:latin typeface="Menlo"/>
                <a:ea typeface="Menlo"/>
                <a:cs typeface="Menlo"/>
              </a:rPr>
              <a:t>05 未来愿景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E6E0F-6034-4B49-B9DF-E671ED14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06  MULTIPLAYER TTRPG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F5535-A6F2-4186-8340-3EA3E593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381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9B9183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9B9183"/>
                </a:solidFill>
                <a:latin typeface="Menlo"/>
                <a:ea typeface="Menlo"/>
                <a:cs typeface="Menlo"/>
              </a:rPr>
              <a:t>07 / 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2C4B52-2208-4893-A4D7-779FD0F7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2700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多人进入同一个世界，共同创造一条新的历史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9045C6-34BE-413A-927F-593E6AF1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9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53C727-7E28-4586-A94C-CBCF2D2E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1">
                <a:solidFill>
                  <a:srgbClr val="253A35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3A35"/>
                </a:solidFill>
                <a:latin typeface="PingFang SC"/>
                <a:ea typeface="PingFang SC"/>
                <a:cs typeface="PingFang SC"/>
              </a:rPr>
              <a:t>当前：本地单人战役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3D8C6A-1375-407E-B6A0-3E07AE89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676400"/>
            <a:ext cx="13525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7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84A988-BDBF-4D75-BD57-B0FEF560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7335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1">
                <a:solidFill>
                  <a:srgbClr val="8B6221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8B6221"/>
                </a:solidFill>
                <a:latin typeface="PingFang SC"/>
                <a:ea typeface="PingFang SC"/>
                <a:cs typeface="PingFang SC"/>
              </a:rPr>
              <a:t>下一步：多人房间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92DE13-5490-4B36-9A95-B7B6CBF5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371475" cy="371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5137"/>
          </a:solidFill>
          <a:ln xmlns:a="http://schemas.openxmlformats.org/drawingml/2006/main" w="9525">
            <a:solidFill>
              <a:srgbClr val="F5F0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8C526E-F5B2-44B4-B1B6-6A936EDC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371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1">
                <a:solidFill>
                  <a:srgbClr val="FFFDF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DFA"/>
                </a:solidFill>
                <a:latin typeface="PingFang SC"/>
                <a:ea typeface="PingFang SC"/>
                <a:cs typeface="PingFang SC"/>
              </a:rPr>
              <a:t>GM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21B55E-D843-4174-BA4A-B16EBE5D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14550"/>
            <a:ext cx="371475" cy="371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9525">
            <a:solidFill>
              <a:srgbClr val="F5F0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B66254-7378-4BEF-B8B1-4156A157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371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1">
                <a:solidFill>
                  <a:srgbClr val="FFFDF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DFA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0A6B6E-63FC-4F8A-87F1-34D1C966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371475" cy="371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452"/>
          </a:solidFill>
          <a:ln xmlns:a="http://schemas.openxmlformats.org/drawingml/2006/main" w="9525">
            <a:solidFill>
              <a:srgbClr val="F5F0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4D0401-3B28-41E1-8796-2EA8EA49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28850"/>
            <a:ext cx="371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1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9CB9A3-1548-4031-967F-A9CE9C59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14550"/>
            <a:ext cx="371475" cy="371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A83"/>
          </a:solidFill>
          <a:ln xmlns:a="http://schemas.openxmlformats.org/drawingml/2006/main" w="9525">
            <a:solidFill>
              <a:srgbClr val="F5F0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0300B0-453A-4084-B605-496B9D5D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28850"/>
            <a:ext cx="371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1">
                <a:solidFill>
                  <a:srgbClr val="FFFDF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DFA"/>
                </a:solidFill>
                <a:latin typeface="PingFang SC"/>
                <a:ea typeface="PingFang SC"/>
                <a:cs typeface="PingFang SC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13ABA5-3B48-48C2-A08E-619B9404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72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玩家共享一个世界版本，各自拥有角色、秘密、行动与后果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BCE046-C741-4FAE-91EF-46C0B957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4DD"/>
          </a:solidFill>
          <a:ln xmlns:a="http://schemas.openxmlformats.org/drawingml/2006/main" w="9525">
            <a:solidFill>
              <a:srgbClr val="D9B1A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638D07-8B8E-47DA-A929-4DFE5C75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1905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AE5240-3BF2-4BB3-8051-998BE881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562350"/>
            <a:ext cx="3895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AI / 真人主持人、确定性骰子、战斗与事件回放已有本地基座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48D037-0AC0-40EA-B994-96C0EDBA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4DD"/>
          </a:solidFill>
          <a:ln xmlns:a="http://schemas.openxmlformats.org/drawingml/2006/main" w="9525">
            <a:solidFill>
              <a:srgbClr val="D9B1A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978ABC-B529-409C-AAC0-59FCB482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1905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193AEE-0A77-4F88-81DC-B8E30E70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76700"/>
            <a:ext cx="3895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多人阶段加入房间、席位、同步状态与权限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E84D82-969E-4E05-97E9-E1897C32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4DD"/>
          </a:solidFill>
          <a:ln xmlns:a="http://schemas.openxmlformats.org/drawingml/2006/main" w="9525">
            <a:solidFill>
              <a:srgbClr val="D9B1A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20E412-8E00-4230-8926-4904DD71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905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A0D7AD-924B-4E26-BD48-9C6B2454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591050"/>
            <a:ext cx="3895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战役事件可整理为世界支线或新作品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364EF0-C50F-4E87-9130-0232DA13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04975"/>
            <a:ext cx="6429375" cy="3981450"/>
          </a:xfrm>
          <a:prstGeom xmlns:a="http://schemas.openxmlformats.org/drawingml/2006/main" prst="roundRect">
            <a:avLst>
              <a:gd name="adj" fmla="val 2871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35480a6484dd5"/>
          <a:stretch xmlns:a="http://schemas.openxmlformats.org/drawingml/2006/main"/>
        </p:blipFill>
        <p:spPr>
          <a:xfrm xmlns:a="http://schemas.openxmlformats.org/drawingml/2006/main">
            <a:off x="5191125" y="1913295"/>
            <a:ext cx="6334125" cy="3564810"/>
          </a:xfrm>
          <a:prstGeom xmlns:a="http://schemas.openxmlformats.org/drawingml/2006/main" prst="roundRect">
            <a:avLst>
              <a:gd name="adj" fmla="val 1961"/>
            </a:avLst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1F8ED8-F2EC-42B8-A948-D40C7F7E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86690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312D">
              <a:alpha val="89804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06F92A-BCD8-42B2-8716-9E70AADC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924050"/>
            <a:ext cx="9525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00" b="1">
                <a:solidFill>
                  <a:srgbClr val="FFFDFA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FFFDFA"/>
                </a:solidFill>
                <a:latin typeface="Menlo"/>
                <a:ea typeface="Menlo"/>
                <a:cs typeface="Menlo"/>
              </a:rPr>
              <a:t>ACTUAL PRODUCT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ED51DE-FCA9-4735-B11B-821500AD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674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416B47-89CF-49E8-97A7-A960BCC6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75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675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USER STORY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0314E8-7E31-4588-8498-750FA779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381750"/>
            <a:ext cx="985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504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04A42"/>
                </a:solidFill>
                <a:latin typeface="PingFang SC"/>
                <a:ea typeface="PingFang SC"/>
                <a:cs typeface="PingFang SC"/>
              </a:rPr>
              <a:t>“四位朋友进入我小说的同一个世界：一人主持、三人扮演角色，每次选择都成为这条世界线的新历史。”</a:t>
            </a:r>
          </a:p>
        </p:txBody>
      </p:sp>
    </p:spTree>
    <p:extLst>
      <p:ext uri="{BB962C8B-B14F-4D97-AF65-F5344CB8AC3E}">
        <p14:creationId xmlns:p14="http://schemas.microsoft.com/office/powerpoint/2010/main" val="20777105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5D4CC4-835B-4051-AE85-8AB3DE64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31E17-435F-442E-A5BA-B65E19D6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0"/>
            <a:ext cx="142875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E2D6C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96040-3823-4A41-9B36-3C6ECB50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983E9-FDF1-4A9D-B3C2-B0D1833D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01 项目主题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068EF-C8A2-4822-972E-3305BE1C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02812-B2AB-4A12-962C-328CFAEA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02 核心路径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A0ACC-D534-4E63-9F18-5E510A51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5F610-0C03-44B3-8F79-04C95710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03 衍生产品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9A763-A944-4E18-9228-2B98E2ED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37A2D-F29A-4860-80F6-CC16FC83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9A8C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9A8C"/>
                </a:solidFill>
                <a:latin typeface="Menlo"/>
                <a:ea typeface="Menlo"/>
                <a:cs typeface="Menlo"/>
              </a:rPr>
              <a:t>04 市场需求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7036F-C3B4-4CED-A598-6F4E7DC2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D7406D-9B68-4571-A973-733E9CAE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9A8C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9A8C"/>
                </a:solidFill>
                <a:latin typeface="Menlo"/>
                <a:ea typeface="Menlo"/>
                <a:cs typeface="Menlo"/>
              </a:rPr>
              <a:t>05 未来愿景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98172C-6C24-4BC5-BDC7-E277C519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07  CHARACTER INTERACTION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D9FD6A-B87A-4E0A-926A-D079A0B4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381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9B9183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9B9183"/>
                </a:solidFill>
                <a:latin typeface="Menlo"/>
                <a:ea typeface="Menlo"/>
                <a:cs typeface="Menlo"/>
              </a:rPr>
              <a:t>08 / 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834608-5EBA-4398-A0ED-938F0B3F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292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角色以世界事实、身份与记忆持续存在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3A32AD-3CE4-462B-9825-B83803C6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9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CBD401-1DBF-4810-9F64-B590C095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1">
                <a:solidFill>
                  <a:srgbClr val="253A35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3A35"/>
                </a:solidFill>
                <a:latin typeface="PingFang SC"/>
                <a:ea typeface="PingFang SC"/>
                <a:cs typeface="PingFang SC"/>
              </a:rPr>
              <a:t>当前：单角色分支聊天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E1EBC-DFD3-461E-8E19-4E02D5EC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676400"/>
            <a:ext cx="1333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7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B76077-CB5B-4A6B-A8A4-F0AADE1C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335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1">
                <a:solidFill>
                  <a:srgbClr val="8B6221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8B6221"/>
                </a:solidFill>
                <a:latin typeface="PingFang SC"/>
                <a:ea typeface="PingFang SC"/>
                <a:cs typeface="PingFang SC"/>
              </a:rPr>
              <a:t>未来：多角色冒险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0310E0-4D06-48FE-8997-B17EB99F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419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800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冻结世界与角色快照，让对话有身份、场景、记忆与后果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186149-C96D-4CDD-B8A5-57701E24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4DD"/>
          </a:solidFill>
          <a:ln xmlns:a="http://schemas.openxmlformats.org/drawingml/2006/main" w="9525">
            <a:solidFill>
              <a:srgbClr val="D9B1A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24CC18-C3A6-4015-8AD6-C2168284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905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5BD3E2-C828-4AC5-9C6A-0BA6B183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19450"/>
            <a:ext cx="3895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选择角色、用户身份与场景后建立独立会话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2D2B16-117F-41BB-B5BE-7E9CF1E7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004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4DD"/>
          </a:solidFill>
          <a:ln xmlns:a="http://schemas.openxmlformats.org/drawingml/2006/main" w="9525">
            <a:solidFill>
              <a:srgbClr val="D9B1A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A87E76-E5CE-4F06-A752-BA66C026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38575"/>
            <a:ext cx="1905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BC01BA-7CE2-4444-9C50-BA08404A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81425"/>
            <a:ext cx="3895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支持重生成、检查点和分支，不破坏原始世界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51E41E-67A4-47F6-8B84-235756CB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4DD"/>
          </a:solidFill>
          <a:ln xmlns:a="http://schemas.openxmlformats.org/drawingml/2006/main" w="9525">
            <a:solidFill>
              <a:srgbClr val="D9B1A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B1D5E0-2AA1-4903-B81E-1A40A46C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1905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675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F8FC12-5681-4B41-9DAB-DE86C351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43400"/>
            <a:ext cx="3895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下一阶段扩展长期记忆、多角色房间和关系演化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43705A-6541-414F-85EB-0C8D42B8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04975"/>
            <a:ext cx="6429375" cy="3981450"/>
          </a:xfrm>
          <a:prstGeom xmlns:a="http://schemas.openxmlformats.org/drawingml/2006/main" prst="roundRect">
            <a:avLst>
              <a:gd name="adj" fmla="val 2871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e13de3d2c4b94"/>
          <a:stretch xmlns:a="http://schemas.openxmlformats.org/drawingml/2006/main"/>
        </p:blipFill>
        <p:spPr>
          <a:xfrm xmlns:a="http://schemas.openxmlformats.org/drawingml/2006/main">
            <a:off x="5191125" y="1913295"/>
            <a:ext cx="6334125" cy="3564810"/>
          </a:xfrm>
          <a:prstGeom xmlns:a="http://schemas.openxmlformats.org/drawingml/2006/main" prst="roundRect">
            <a:avLst>
              <a:gd name="adj" fmla="val 1961"/>
            </a:avLst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82B22A-5AE6-4B21-B94B-465222F0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86690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312D">
              <a:alpha val="89804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092A6A-9B89-4763-9FA7-F6888881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924050"/>
            <a:ext cx="9525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00" b="1">
                <a:solidFill>
                  <a:srgbClr val="FFFDFA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FFFDFA"/>
                </a:solidFill>
                <a:latin typeface="Menlo"/>
                <a:ea typeface="Menlo"/>
                <a:cs typeface="Menlo"/>
              </a:rPr>
              <a:t>ACTUAL PRODUCT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954265-4D19-4EE4-B66A-7A807BF7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674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6AC420-BDC6-4BC8-82DE-EEFDF927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75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675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USER STORY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E051E3-EF93-47B2-B151-8F41996E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381750"/>
            <a:ext cx="985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504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04A42"/>
                </a:solidFill>
                <a:latin typeface="PingFang SC"/>
                <a:ea typeface="PingFang SC"/>
                <a:cs typeface="PingFang SC"/>
              </a:rPr>
              <a:t>“读者可以以记者的身份采访小说中的反派；这段关系有上下文，也能发展成一条新的支线。”</a:t>
            </a:r>
          </a:p>
        </p:txBody>
      </p:sp>
    </p:spTree>
    <p:extLst>
      <p:ext uri="{BB962C8B-B14F-4D97-AF65-F5344CB8AC3E}">
        <p14:creationId xmlns:p14="http://schemas.microsoft.com/office/powerpoint/2010/main" val="10538333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B25257-B6C3-4119-84E6-6FFB443A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DDF6F-C49D-43E4-9DB1-E53CF826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0"/>
            <a:ext cx="142875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E2D6C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1E6C8-F6C3-4EA5-BDCF-B1E8B12B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6FAEE-296F-49AE-97A1-520882E4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01 项目主题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8657B-9329-42E0-BA89-3A300B60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A5664-5EE9-43A4-8F36-25ABC18A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02 核心路径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D9C76-9588-4BF0-9FFD-DD476208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A5E43-BE27-4D1D-BBC2-CD1301AD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03 衍生产品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B450E-17E5-4328-A5EA-1ED0746B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5D18F-DDD4-4599-9160-170B87C3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9A8C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9A8C"/>
                </a:solidFill>
                <a:latin typeface="Menlo"/>
                <a:ea typeface="Menlo"/>
                <a:cs typeface="Menlo"/>
              </a:rPr>
              <a:t>04 市场需求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A80A5-ACB3-41AF-8F5A-E03C9D19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224E3-58F5-4A89-8273-A13C4A9D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9A8C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9A8C"/>
                </a:solidFill>
                <a:latin typeface="Menlo"/>
                <a:ea typeface="Menlo"/>
                <a:cs typeface="Menlo"/>
              </a:rPr>
              <a:t>05 未来愿景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D5DF9-2286-4ED1-B990-C5C4D5CB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08  NARRATIVE GAMES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158B16-3ED4-49FD-8E2C-290EF0AD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381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9B9183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9B9183"/>
                </a:solidFill>
                <a:latin typeface="Menlo"/>
                <a:ea typeface="Menlo"/>
                <a:cs typeface="Menlo"/>
              </a:rPr>
              <a:t>09 / 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0BEF42-D357-44E5-BEA7-956D9017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2700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文字游戏把故事结构转化为选择、状态、分支与结局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BC9E08-B6E3-4794-9004-56515D02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1200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9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0CDD4-6DE2-4E1E-8CB0-F38FA7B7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1">
                <a:solidFill>
                  <a:srgbClr val="253A35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3A35"/>
                </a:solidFill>
                <a:latin typeface="PingFang SC"/>
                <a:ea typeface="PingFang SC"/>
                <a:cs typeface="PingFang SC"/>
              </a:rPr>
              <a:t>当前：实验入口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855FC-9AEE-4959-974B-F8F8697F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676400"/>
            <a:ext cx="1409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7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0510A8-0E76-4EDB-B8B0-E514783F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335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1">
                <a:solidFill>
                  <a:srgbClr val="8B6221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8B6221"/>
                </a:solidFill>
                <a:latin typeface="PingFang SC"/>
                <a:ea typeface="PingFang SC"/>
                <a:cs typeface="PingFang SC"/>
              </a:rPr>
              <a:t>下一步：编辑与发布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00397B-D47E-4AD3-A2A4-FE2A57AA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800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同一世界可以生成三类可玩的叙事产品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D8EE16-7379-4022-B26D-92C84176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1050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分支冒险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338E7A-93D1-4378-ADE8-E3DE9175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90850"/>
            <a:ext cx="3067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作者设置关键节点与结局，玩家选择改变关系、资源和路线。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72DCB9-2BEE-4A30-BCC3-ECC100A5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16785D-B91A-4B6C-9306-8A688727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480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1050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系统叙事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5519AB-4278-40B5-9726-83B3EE43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38550"/>
            <a:ext cx="3067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规则、状态和事件系统共同组织生存、经营与开放探索。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B5A5DE-EE1C-426C-ABF3-C6F03CF1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10A538-57F3-49DF-B933-E665043B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957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1050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社区衍生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82C438-DD2E-4AFD-AFCC-5FD951F8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86250"/>
            <a:ext cx="3067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读者基于已发布的世界制作番外、支线和新的可玩版本。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4A1B67-7D5A-4DB1-973F-FFE37DAC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3872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825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当前界面已完成世界绑定入口；选择、状态、分支编辑器与发布游玩闭环正在汇合。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867D0D-C88A-4E03-8C9C-5C80F8B8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04975"/>
            <a:ext cx="6429375" cy="3981450"/>
          </a:xfrm>
          <a:prstGeom xmlns:a="http://schemas.openxmlformats.org/drawingml/2006/main" prst="roundRect">
            <a:avLst>
              <a:gd name="adj" fmla="val 2871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85aa5d0244003"/>
          <a:stretch xmlns:a="http://schemas.openxmlformats.org/drawingml/2006/main"/>
        </p:blipFill>
        <p:spPr>
          <a:xfrm xmlns:a="http://schemas.openxmlformats.org/drawingml/2006/main">
            <a:off x="5191125" y="1913295"/>
            <a:ext cx="6334125" cy="3564810"/>
          </a:xfrm>
          <a:prstGeom xmlns:a="http://schemas.openxmlformats.org/drawingml/2006/main" prst="roundRect">
            <a:avLst>
              <a:gd name="adj" fmla="val 1961"/>
            </a:avLst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CE838D-0174-4CE1-B234-1C4CDA64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86690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312D">
              <a:alpha val="89804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A6BA69-0ACF-4DE6-A8FE-FB6C46EA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924050"/>
            <a:ext cx="9525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00" b="1">
                <a:solidFill>
                  <a:srgbClr val="FFFDFA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FFFDFA"/>
                </a:solidFill>
                <a:latin typeface="Menlo"/>
                <a:ea typeface="Menlo"/>
                <a:cs typeface="Menlo"/>
              </a:rPr>
              <a:t>ACTUAL PRODUCT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D38615-F010-4DFB-BF04-53E79CBD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674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8BF8E0-46AF-452E-8CEA-D2410349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75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675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USER STORY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DD4FA6-0BAF-4B3E-AB9C-06E15002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381750"/>
            <a:ext cx="985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504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04A42"/>
                </a:solidFill>
                <a:latin typeface="PingFang SC"/>
                <a:ea typeface="PingFang SC"/>
                <a:cs typeface="PingFang SC"/>
              </a:rPr>
              <a:t>“我从自己的故事和世界设定出发，就能制作一款拥有选择、状态与结局的叙事游戏。”</a:t>
            </a:r>
          </a:p>
        </p:txBody>
      </p:sp>
    </p:spTree>
    <p:extLst>
      <p:ext uri="{BB962C8B-B14F-4D97-AF65-F5344CB8AC3E}">
        <p14:creationId xmlns:p14="http://schemas.microsoft.com/office/powerpoint/2010/main" val="6029060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DE1088-B29F-42E3-A5E1-4480C838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892AE-EBB4-4E03-A4EA-6C911B3E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0"/>
            <a:ext cx="142875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E2D6C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46805-7B62-433E-A1F8-88CBE878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0F476-0AF7-4CFE-A64A-039E17BC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01 项目主题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4C399-BCA7-46F5-A95A-ABFA33AE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5FF41-FA96-4416-BAF4-52FD8CFD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02 核心路径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B7314-C262-4420-83DB-216AAAAC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88FBE7-63C0-4488-BD1A-28E60222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03 衍生产品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24A35-B8E7-477D-9660-7C5683E8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B36C9-C664-4690-977C-AD3374C2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04 市场需求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EBEE0-EDC9-4671-A224-6166EBE8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C5F1F0-4DDF-405F-8F8C-B7CC03FB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9A8C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9A8C"/>
                </a:solidFill>
                <a:latin typeface="Menlo"/>
                <a:ea typeface="Menlo"/>
                <a:cs typeface="Menlo"/>
              </a:rPr>
              <a:t>05 未来愿景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926EA-5EEF-4344-B398-5E9CC427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09  MARKET WINDOW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BD4F1C-465D-4147-BA45-4E2CEBFD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381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9B9183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9B9183"/>
                </a:solidFill>
                <a:latin typeface="Menlo"/>
                <a:ea typeface="Menlo"/>
                <a:cs typeface="Menlo"/>
              </a:rPr>
              <a:t>10 / 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424B5-4C82-4CB7-A4F9-D0967E73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292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创作供给、AI 使用与互动消费已经同时成立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227E35-CF33-45C4-9347-00685A9D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26098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253A35"/>
          </a:solidFill>
          <a:ln xmlns:a="http://schemas.openxmlformats.org/drawingml/2006/main" w="9525">
            <a:solidFill>
              <a:srgbClr val="253A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E0978E-5657-420C-A2A3-486E9ABE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D7A452"/>
                </a:solidFill>
                <a:latin typeface="Songti SC"/>
                <a:ea typeface="Songti SC"/>
                <a:cs typeface="Songti SC"/>
              </a:defRPr>
            </a:pPr>
            <a:r>
              <a:rPr sz="2700" b="1">
                <a:solidFill>
                  <a:srgbClr val="D7A452"/>
                </a:solidFill>
                <a:latin typeface="Songti SC"/>
                <a:ea typeface="Songti SC"/>
                <a:cs typeface="Songti SC"/>
              </a:rPr>
              <a:t>502.1 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613FD6-D0A9-448F-B353-502A4446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FFFDFA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FFFDFA"/>
                </a:solidFill>
                <a:latin typeface="Songti SC"/>
                <a:ea typeface="Songti SC"/>
                <a:cs typeface="Songti SC"/>
              </a:rPr>
              <a:t>中国网络文学阅读市场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364982-F7EE-4058-A615-261A3B7C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0517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825" b="0">
                <a:solidFill>
                  <a:srgbClr val="DFE6E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DFE6E3"/>
                </a:solidFill>
                <a:latin typeface="PingFang SC"/>
                <a:ea typeface="PingFang SC"/>
                <a:cs typeface="PingFang SC"/>
              </a:rPr>
              <a:t>2025 年；作品生产本身已经是大规模产业。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35BEE-BB5F-4D28-9E6C-D72BA6E7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28800"/>
            <a:ext cx="26098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FFFD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E1FC9B-DDD1-457A-BB0B-35909E1F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145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2700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3269 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22E5BA-6758-443A-B830-E2502588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622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网文作者规模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3B843B-5196-440B-A0DE-EE4F9081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517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825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庞大的创作者群体已经构成明确的生产者市场。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6918AC-7EBA-4639-A809-DB9C4228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28800"/>
            <a:ext cx="26098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FFFD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1AB99D-BAE8-4F65-BF35-654142BA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145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2700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85%+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535FE8-D933-42B1-8952-5A455473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622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签约作者每周使用 AI 辅助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2EB42E-CFE5-464E-A5DE-E927A72D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0517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825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AI 已进入工作流，但直接完成高质量长篇仍然困难。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1A42A0-7425-498E-80EB-1004E832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28800"/>
            <a:ext cx="26098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FFFD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0A9A11-1165-457F-AE7D-B62C9B27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145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2700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100 亿+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281AB3-34F1-44DB-B63E-DDDFF6A0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622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Episode 互动章节观看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17B896-7E08-4AE0-88BA-39A79C03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0517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825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全球用户已经证明叙事内容可以被持续“玩”。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8E76E4-7A22-48D4-9EC5-C0A9EDD7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95775"/>
            <a:ext cx="108394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A5ACD0-0254-4EFB-B93A-E0FF6AA8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95775"/>
            <a:ext cx="381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7C4B2E-5627-4CE2-8C09-627B0CF6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StoryForge 的窗口：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6868E1-D92F-40D4-84C4-1CCA399D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148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连接“庞大的故事生产”与“成熟的互动消费”，让同一份世界资产跨越两类市场。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F3C156-40EE-4B44-BB2B-1E2A72BB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9048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0">
                <a:solidFill>
                  <a:srgbClr val="92887B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92887B"/>
                </a:solidFill>
                <a:latin typeface="PingFang SC"/>
                <a:ea typeface="PingFang SC"/>
                <a:cs typeface="PingFang SC"/>
              </a:rPr>
              <a:t>来源：中科院《2025中国网络文学发展研究报告》；中国作家网；Episode 官方首页。</a:t>
            </a:r>
          </a:p>
        </p:txBody>
      </p:sp>
    </p:spTree>
    <p:extLst>
      <p:ext uri="{BB962C8B-B14F-4D97-AF65-F5344CB8AC3E}">
        <p14:creationId xmlns:p14="http://schemas.microsoft.com/office/powerpoint/2010/main" val="6323357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DACBA6-14C3-407E-9E84-DB774AFF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E2E34-084F-431F-BA88-AAB9703A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0"/>
            <a:ext cx="142875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E2D6C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40B4C-356B-4370-8C42-68CAD07B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16416-88A6-4CB8-8D87-EF1B2FB2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01 项目主题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90A6E-4D85-4E74-914D-EB309A3E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59673-8432-4848-B9CD-C233E02B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02 核心路径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CB14B-9A1D-4C0A-9AC5-9EDAFDE9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EB247-5651-4F7F-BAD9-C1B44C8B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03 衍生产品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3B7EC-5C0A-4E1B-B740-AC59C4C6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2CC37-B29D-444E-95CF-47851657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04 市场需求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A4F12-3932-43BA-9D24-86D620CB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5AB45-B17D-4282-A925-E9E421F5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9A8C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9A8C"/>
                </a:solidFill>
                <a:latin typeface="Menlo"/>
                <a:ea typeface="Menlo"/>
                <a:cs typeface="Menlo"/>
              </a:rPr>
              <a:t>05 未来愿景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244A1E-2B88-4F61-8D07-1C0EEA27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10  EARLY SIGNALS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0DF683-74A6-4A8A-94C4-9CA6C461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381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9B9183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9B9183"/>
                </a:solidFill>
                <a:latin typeface="Menlo"/>
                <a:ea typeface="Menlo"/>
                <a:cs typeface="Menlo"/>
              </a:rPr>
              <a:t>11 / 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EFE15E-810D-4E7F-84B3-DEA5D024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7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277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初期项目，但需求已经从代码仓库扩散到内容社区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7C70D5-9C96-4A27-96DA-09B2D93F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24025"/>
            <a:ext cx="3952875" cy="4200525"/>
          </a:xfrm>
          <a:prstGeom xmlns:a="http://schemas.openxmlformats.org/drawingml/2006/main" prst="roundRect">
            <a:avLst>
              <a:gd name="adj" fmla="val 2892"/>
            </a:avLst>
          </a:prstGeom>
          <a:solidFill xmlns:a="http://schemas.openxmlformats.org/drawingml/2006/main">
            <a:srgbClr val="253A35"/>
          </a:solidFill>
          <a:ln xmlns:a="http://schemas.openxmlformats.org/drawingml/2006/main" w="9525">
            <a:solidFill>
              <a:srgbClr val="253A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3D39E3-C699-42E6-81E9-DA74EF87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716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D7A452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D7A452"/>
                </a:solidFill>
                <a:latin typeface="Menlo"/>
                <a:ea typeface="Menlo"/>
                <a:cs typeface="Menlo"/>
              </a:rPr>
              <a:t>CURRENT PROOF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D3CAC-FC02-4D91-A9EB-F179DA92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FFFDFA"/>
                </a:solidFill>
                <a:latin typeface="Songti SC"/>
                <a:ea typeface="Songti SC"/>
                <a:cs typeface="Songti SC"/>
              </a:defRPr>
            </a:pPr>
            <a:r>
              <a:rPr sz="1875" b="1">
                <a:solidFill>
                  <a:srgbClr val="FFFDFA"/>
                </a:solidFill>
                <a:latin typeface="Songti SC"/>
                <a:ea typeface="Songti SC"/>
                <a:cs typeface="Songti SC"/>
              </a:rPr>
              <a:t>当前验证主要来自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FFFDFA"/>
                </a:solidFill>
                <a:latin typeface="Songti SC"/>
                <a:ea typeface="Songti SC"/>
                <a:cs typeface="Songti SC"/>
              </a:defRPr>
            </a:pPr>
            <a:r>
              <a:rPr sz="1875" b="1">
                <a:solidFill>
                  <a:srgbClr val="FFFDFA"/>
                </a:solidFill>
                <a:latin typeface="Songti SC"/>
                <a:ea typeface="Songti SC"/>
                <a:cs typeface="Songti SC"/>
              </a:rPr>
              <a:t>长篇创作用户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EB170A-AEAE-4041-A867-810133F1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75" b="0">
                <a:solidFill>
                  <a:srgbClr val="D8DFD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8DFDC"/>
                </a:solidFill>
                <a:latin typeface="PingFang SC"/>
                <a:ea typeface="PingFang SC"/>
                <a:cs typeface="PingFang SC"/>
              </a:rPr>
              <a:t>长篇工作流提供高频、强痛点的产品切入口；创作者沉淀的故事与世界将继续释放互动价值。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B0FD22-0F25-46FB-81E0-6791B503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57675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BFCAC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CAC5"/>
                </a:solidFill>
                <a:latin typeface="PingFang SC"/>
                <a:ea typeface="PingFang SC"/>
                <a:cs typeface="PingFang SC"/>
              </a:rPr>
              <a:t>已有社群用户反馈将作品发布到网文平台并获得持续追读；案例仍在征集公开证明材料，路演不使用未经核验的收益数字。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5666F0-2A19-494E-A62D-E7AC74C8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724025"/>
            <a:ext cx="31813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6919D7-7E06-4729-B603-34F65CF8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8954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5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520+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FB1112-8313-4FB8-BD5C-FAC26541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3526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12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GitHub Stars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F3CB65-92EB-4F6A-BC2C-C4D72460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6860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95 Forks · 798 次提交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21DA34-744A-4D1B-9D4B-C87339CB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724025"/>
            <a:ext cx="31813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44E87A-928D-4F95-B2B4-B3081966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8954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5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≈ 1,000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45A66F-B984-444E-97A2-63849740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3526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12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社群成员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B92586-EDA9-4F15-89A7-FA0A970E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6860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项目方口径；不等于活跃创作者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CA83AD-21D4-400E-B3DE-F507EBF0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52775"/>
            <a:ext cx="31813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56C20B-0A28-41C4-8F06-00E86A15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3242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5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6,272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D5FB9A-6BFA-4DF9-8607-A2BD5A6D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78142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12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近 14 日仓库浏览事件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F39062-BCC4-4837-A6D8-CBF64A84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114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2026-07-31—08-13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749B7A-5D47-4BA0-B165-9B919560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52775"/>
            <a:ext cx="31813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C83980-AC66-4579-ACB2-49642C68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3242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5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1,290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0A5C3F-39FF-4E64-9442-B0122459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78142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12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近 14 日完整克隆事件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DBF271-6C66-4B42-8A76-C0EBB514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114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非独立用户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0CCC64-AC36-4367-9B08-25DA4B43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81525"/>
            <a:ext cx="65532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FBBE81-5962-4039-89C9-E0B853A1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7529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1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A45137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A45137"/>
                </a:solidFill>
                <a:latin typeface="Songti SC"/>
                <a:ea typeface="Songti SC"/>
                <a:cs typeface="Songti SC"/>
              </a:rPr>
              <a:t>34,595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D099AA-D893-4D3E-8039-796C3B57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143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12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教程合集累计播放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424B36-9EC3-468A-9759-76EA9699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720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主视频约 28,198 播放、2,864 收藏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FC7B9C-C685-405E-B520-FB259664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724525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本地优先意味着无法统一统计生成字数和活跃创作者；这是隐私边界，也是下一阶段要补足的验证能力。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5DC904-7FE9-440B-B25E-013596BF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0001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0">
                <a:solidFill>
                  <a:srgbClr val="92887B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92887B"/>
                </a:solidFill>
                <a:latin typeface="PingFang SC"/>
                <a:ea typeface="PingFang SC"/>
                <a:cs typeface="PingFang SC"/>
              </a:rPr>
              <a:t>来源：GitHub 仓库与 Traffic 自存档、Bilibili 页面、项目方社群口径；事件量均非独立人数。</a:t>
            </a:r>
          </a:p>
        </p:txBody>
      </p:sp>
    </p:spTree>
    <p:extLst>
      <p:ext uri="{BB962C8B-B14F-4D97-AF65-F5344CB8AC3E}">
        <p14:creationId xmlns:p14="http://schemas.microsoft.com/office/powerpoint/2010/main" val="2085747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A3C473-1788-44FD-92D0-8DA18D32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1EEC6-14E1-4372-AF75-A653373B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0"/>
            <a:ext cx="142875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E2D6C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BF865-F832-40CC-A844-DC652FCD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212BC-91D3-4A1D-82DC-4245C087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01 项目主题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6C48F-E311-4B15-96EF-99550E2A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7C4F6-49E1-4E12-BB9F-147FFC9C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02 核心路径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4E7D1-0CE2-440A-95E1-F49D9573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53F82-A334-4628-9286-E3696703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03 衍生产品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531C6-245F-47A7-A76E-26EA49A8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2C55C-3C36-487C-947D-5DD1C378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04 市场需求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6D531-1549-4359-B29E-DBF91FDE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78F8C-A180-433D-AC6B-641B2412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05 未来愿景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D3057-9DAD-47E6-814B-BE829117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11  COMMUNITY 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C46EC1-E68E-4FF7-99A7-0CDE8BB1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381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9B9183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9B9183"/>
                </a:solidFill>
                <a:latin typeface="Menlo"/>
                <a:ea typeface="Menlo"/>
                <a:cs typeface="Menlo"/>
              </a:rPr>
              <a:t>12 / 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3CFB96-889F-42C8-B44C-E946D6B5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62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262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世界进入社区后，在发布、游玩、改编与共创中持续演化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2B91D9-914E-48B9-B6A3-87FDAB74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85950"/>
            <a:ext cx="3143250" cy="3143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AFA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B9CCE5-8180-4E34-9B76-E3FC3503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7432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49ECB-827A-4490-AC41-813C4044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143250"/>
            <a:ext cx="104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DFA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FFFDFA"/>
                </a:solidFill>
                <a:latin typeface="Songti SC"/>
                <a:ea typeface="Songti SC"/>
                <a:cs typeface="Songti SC"/>
              </a:rPr>
              <a:t>可持续的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DFA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FFFDFA"/>
                </a:solidFill>
                <a:latin typeface="Songti SC"/>
                <a:ea typeface="Songti SC"/>
                <a:cs typeface="Songti SC"/>
              </a:rPr>
              <a:t>叙事世界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B73675-874A-432A-AAB2-965B8364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24050"/>
            <a:ext cx="2143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FC357B-E167-45AF-8BB2-913640E4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076450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创作与发布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F595F3-B338-4FF6-BF9F-FDE4B981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419350"/>
            <a:ext cx="1800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00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冻结世界版本、作品与授权边界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63024B-6DD1-4175-84E0-F416DF92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38350"/>
            <a:ext cx="2143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351408-64D4-4432-A282-20F74945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发现与游玩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5B8F1A-0AC4-4657-AB8C-FE595E86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33650"/>
            <a:ext cx="1800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3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00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导入世界，进入小说、战役或游戏实例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3A3CAF-32E2-4960-9BBB-3E760CBE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52950"/>
            <a:ext cx="2143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0419FE-4ABB-4758-92F9-7BCABBE7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05350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改编与共创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A7F803-688D-4E6B-8FA1-535E1951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048250"/>
            <a:ext cx="1800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00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制作支线、角色故事与新玩法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573D2E-A0AD-4E85-B760-D36701B7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2143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F176AE-03FB-4D27-B99F-2F827DF9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29150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反馈与演化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F32EE1-EE95-4D73-9077-036F62E1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72050"/>
            <a:ext cx="1800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00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以结构化提案形成新的世界版本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12835C-6D9D-4FA4-A106-66CD01BA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43150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8E2A43-0267-41E4-A5A6-E6AE84CB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447925"/>
            <a:ext cx="1571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FDFA9F-A525-4E18-BD62-900BB832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9053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2894B6-EC74-4683-9BBD-FA82B8F1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972050"/>
            <a:ext cx="1571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BCF380-C1EE-4942-8B3A-BB24BCE6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674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53ADC3-DCDF-4B29-9E0C-4A2283BA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75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675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USER STORY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3940DC-294E-415B-B6BE-6F98C33D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381750"/>
            <a:ext cx="985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504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04A42"/>
                </a:solidFill>
                <a:latin typeface="PingFang SC"/>
                <a:ea typeface="PingFang SC"/>
                <a:cs typeface="PingFang SC"/>
              </a:rPr>
              <a:t>“我发布一个可追溯版本的世界；其他人可以阅读、游玩、改编，并把新作品连接回它的来源。”</a:t>
            </a:r>
          </a:p>
        </p:txBody>
      </p:sp>
    </p:spTree>
    <p:extLst>
      <p:ext uri="{BB962C8B-B14F-4D97-AF65-F5344CB8AC3E}">
        <p14:creationId xmlns:p14="http://schemas.microsoft.com/office/powerpoint/2010/main" val="12974074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12AC1C4-72BF-42A9-8FF1-54B66FD9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BE4DB-F8F4-4763-B41E-29A2513F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0"/>
            <a:ext cx="142875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E2D6C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09CCA-C0CC-4F7A-A706-7CCAE462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B756D-76B0-4104-A658-5EEFA9FD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01 项目主题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4601A-4217-43EE-B83D-ABB83C0E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5D797-113F-42E0-B7C9-2BC9D6EF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02 核心路径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A027A-AD8B-4D93-A48F-A50CA98B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91955-B444-4F7F-BD69-51FF510A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03 衍生产品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35021-BC01-44F9-9E2C-93FB2901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77ABE-AF04-4267-9889-11E03AFD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04 市场需求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E77182-5BB9-48B4-94CF-05CB1D4A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5C197-9403-4441-8863-81FDFBFC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05 未来愿景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85B1A3-A3CD-4686-AB13-39885D20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12  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0DB06-2E46-4F22-8658-D548B9C9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381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9B9183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9B9183"/>
                </a:solidFill>
                <a:latin typeface="Menlo"/>
                <a:ea typeface="Menlo"/>
                <a:cs typeface="Menlo"/>
              </a:rPr>
              <a:t>13 / 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BF2B98-17E0-4B54-BB9B-99C068AF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292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三阶段把创作基座扩展为可运行的世界网络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D847A-F6EE-4864-B883-241BD9F5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348615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703D8C-28B5-4826-9462-30924E97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5137"/>
          </a:solidFill>
          <a:ln xmlns:a="http://schemas.openxmlformats.org/drawingml/2006/main" w="9525">
            <a:solidFill>
              <a:srgbClr val="F5F0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E63882-9391-4961-904C-663FC71F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NOW · 已有基座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53E2D5-25B9-446C-83D8-87FECCEB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860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72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完成作品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2A88A6-324E-4238-9848-EE48D76A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142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A4513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A45137"/>
                </a:solidFill>
                <a:latin typeface="PingFang SC"/>
                <a:ea typeface="PingFang SC"/>
                <a:cs typeface="PingFang SC"/>
              </a:rPr>
              <a:t>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322D2C-30E7-495E-9424-B3B437E0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长篇分阶段写作与一致性治理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4D74ED-8DBD-490E-BAA5-F7A7FE8E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42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A4513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A45137"/>
                </a:solidFill>
                <a:latin typeface="PingFang SC"/>
                <a:ea typeface="PingFang SC"/>
                <a:cs typeface="PingFang SC"/>
              </a:rPr>
              <a:t>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C477E0-2790-4DB6-8232-821453E8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718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世界引擎工作台与本地世界包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E3022C-8F0B-4D03-941F-2919DEDB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0025"/>
            <a:ext cx="142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A4513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A45137"/>
                </a:solidFill>
                <a:latin typeface="PingFang SC"/>
                <a:ea typeface="PingFang SC"/>
                <a:cs typeface="PingFang SC"/>
              </a:rPr>
              <a:t>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2F9DAA-BCC7-4D6F-92D4-BB3E0137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节点创作、单人跑团、单角色聊天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ED8B16-4D6E-4002-8FEB-2FFF57D8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142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A4513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A45137"/>
                </a:solidFill>
                <a:latin typeface="PingFang SC"/>
                <a:ea typeface="PingFang SC"/>
                <a:cs typeface="PingFang SC"/>
              </a:rPr>
              <a:t>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9675AB-1397-49EC-901F-B8407F56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672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开源社区与内容教程入口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593C5-39E2-49C1-836C-DF9109B7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28800"/>
            <a:ext cx="348615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8C8252-F0AB-4C33-B280-9B5345EF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452"/>
          </a:solidFill>
          <a:ln xmlns:a="http://schemas.openxmlformats.org/drawingml/2006/main" w="9525">
            <a:solidFill>
              <a:srgbClr val="F5F0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F87D38-6EEC-4CD3-A780-6A6A799C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95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NEXT · 产品闭环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7F5192-880E-4688-8C74-A0245743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860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72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让世界运行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3AA8FE-BBDA-433D-AEC9-AC345A63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14675"/>
            <a:ext cx="142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A4513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A45137"/>
                </a:solidFill>
                <a:latin typeface="PingFang SC"/>
                <a:ea typeface="PingFang SC"/>
                <a:cs typeface="PingFang SC"/>
              </a:rPr>
              <a:t>·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161BCC-B342-46A1-899A-BEC0F69E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242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可执行叙事蓝图与统一实例状态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088D5D-3042-4557-8AA4-726D1538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62350"/>
            <a:ext cx="142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A4513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A45137"/>
                </a:solidFill>
                <a:latin typeface="PingFang SC"/>
                <a:ea typeface="PingFang SC"/>
                <a:cs typeface="PingFang SC"/>
              </a:rPr>
              <a:t>·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D133B1-C6A9-497F-BDC1-A0B5A370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718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文字游戏编辑、发布与游玩闭环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2271E7-03EE-496F-9AD3-9220BACA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10025"/>
            <a:ext cx="142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A4513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A45137"/>
                </a:solidFill>
                <a:latin typeface="PingFang SC"/>
                <a:ea typeface="PingFang SC"/>
                <a:cs typeface="PingFang SC"/>
              </a:rPr>
              <a:t>·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DF64F9-764A-4D94-93DD-68CBDF28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195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多人跑团房间与多角色互动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8830CE-DA61-4D9A-A225-5A7518B8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57700"/>
            <a:ext cx="142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A4513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A45137"/>
                </a:solidFill>
                <a:latin typeface="PingFang SC"/>
                <a:ea typeface="PingFang SC"/>
                <a:cs typeface="PingFang SC"/>
              </a:rPr>
              <a:t>·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991AE2-A453-4E24-839D-5850AB9E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672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匿名化、可选择的使用反馈指标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5A8C0E-3800-4D87-B4DD-046E56E8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28800"/>
            <a:ext cx="348615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5A47AC-E011-44D2-9D30-8B3FB4A3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1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9525">
            <a:solidFill>
              <a:srgbClr val="F5F0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688155-AC16-4AD0-86FB-24DA7F79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LATER · 生态网络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C9E7EA-DC7D-42D8-8CEF-E9CCF823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860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72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让世界演化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D3F5A8-D597-479D-930D-7EA8B5F1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14675"/>
            <a:ext cx="142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A4513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A45137"/>
                </a:solidFill>
                <a:latin typeface="PingFang SC"/>
                <a:ea typeface="PingFang SC"/>
                <a:cs typeface="PingFang SC"/>
              </a:rPr>
              <a:t>·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45A5A0-C406-42CD-8AD2-EBC5E04E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242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创作者身份、云同步与世界发现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AEE606-BA46-4C7F-8C98-C0F8273B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62350"/>
            <a:ext cx="142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A4513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A45137"/>
                </a:solidFill>
                <a:latin typeface="PingFang SC"/>
                <a:ea typeface="PingFang SC"/>
                <a:cs typeface="PingFang SC"/>
              </a:rPr>
              <a:t>·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82AFA7-AEE6-48B1-9CEE-38A21823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718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版本、授权、来源与衍生关系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C8B45F-46F7-4CDD-831E-CAED4F37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10025"/>
            <a:ext cx="142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A4513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A45137"/>
                </a:solidFill>
                <a:latin typeface="PingFang SC"/>
                <a:ea typeface="PingFang SC"/>
                <a:cs typeface="PingFang SC"/>
              </a:rPr>
              <a:t>·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CD31D8E-E61E-41DB-975F-267C36A3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195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结构化共创提案与协作工作流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E9CFE7C-2C5A-404B-9838-9EA58D0D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57700"/>
            <a:ext cx="142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A4513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A45137"/>
                </a:solidFill>
                <a:latin typeface="PingFang SC"/>
                <a:ea typeface="PingFang SC"/>
                <a:cs typeface="PingFang SC"/>
              </a:rPr>
              <a:t>·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97CB87-A5B2-425B-AE72-E984DA9B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672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创作、游玩、改编与分发市场</a:t>
            </a:r>
          </a:p>
        </p:txBody>
      </p:sp>
    </p:spTree>
    <p:extLst>
      <p:ext uri="{BB962C8B-B14F-4D97-AF65-F5344CB8AC3E}">
        <p14:creationId xmlns:p14="http://schemas.microsoft.com/office/powerpoint/2010/main" val="8226726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1A06FA-D7CF-4982-81D0-2693607E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C0793-BF19-4DD4-8F40-071BE2EA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0"/>
            <a:ext cx="142875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E2D6C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C21B2-7E4F-4186-9B29-3B40EFA1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2EF6F-6288-4834-AF00-97FFE9C2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01 项目主题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2AEB7-EE3A-483C-9EC4-486B46CA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FA9E5-E6DE-4322-8FCF-07D7D5F4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02 核心路径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9E4BF-AB80-46C3-ACF2-E0B4B3F1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4AFD5-7277-4973-A64D-E2AD73C3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03 衍生产品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7A72A-0C8C-460A-9D03-86B94A3C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298BA-5133-4532-9402-BC5A327E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04 市场需求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76223-E83B-434D-9568-29F33F5D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9F4A4-1111-45F6-93E8-D54A1356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05 未来愿景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64EF6-BECE-4D37-8949-CEE64237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13  CURRENT STAGE &amp; NEXT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5B8DE-1061-4919-9AEF-55384043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381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9B9183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9B9183"/>
                </a:solidFill>
                <a:latin typeface="Menlo"/>
                <a:ea typeface="Menlo"/>
                <a:cs typeface="Menlo"/>
              </a:rPr>
              <a:t>14 / 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F7298-C977-47BA-9EBA-DFC42CFF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62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262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当前形成创作与世界基座，下一阶段推进产品闭环和社区生态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A3B88B-C480-4E32-B0C3-E5758BE7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40005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253A35"/>
          </a:solidFill>
          <a:ln xmlns:a="http://schemas.openxmlformats.org/drawingml/2006/main" w="9525">
            <a:solidFill>
              <a:srgbClr val="253A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7BBD6C-A3A0-4B17-9650-B09783E6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2407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1511E7-544B-4FD4-93CC-DB2CD1EE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DFA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FFFDFA"/>
                </a:solidFill>
                <a:latin typeface="Songti SC"/>
                <a:ea typeface="Songti SC"/>
                <a:cs typeface="Songti SC"/>
              </a:rPr>
              <a:t>NOW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290D49-6011-4799-935E-89F6F174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FFDFA"/>
                </a:solidFill>
                <a:latin typeface="Songti SC"/>
                <a:ea typeface="Songti SC"/>
                <a:cs typeface="Songti SC"/>
              </a:defRPr>
            </a:pPr>
            <a:r>
              <a:rPr sz="1875" b="1">
                <a:solidFill>
                  <a:srgbClr val="FFFDFA"/>
                </a:solidFill>
                <a:latin typeface="Songti SC"/>
                <a:ea typeface="Songti SC"/>
                <a:cs typeface="Songti SC"/>
              </a:rPr>
              <a:t>独立开发者发起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FFDFA"/>
                </a:solidFill>
                <a:latin typeface="Songti SC"/>
                <a:ea typeface="Songti SC"/>
                <a:cs typeface="Songti SC"/>
              </a:defRPr>
            </a:pPr>
            <a:r>
              <a:rPr sz="1875" b="1">
                <a:solidFill>
                  <a:srgbClr val="FFFDFA"/>
                </a:solidFill>
                <a:latin typeface="Songti SC"/>
                <a:ea typeface="Songti SC"/>
                <a:cs typeface="Songti SC"/>
              </a:rPr>
              <a:t>社区共同参与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AF1771-9904-4849-BE6C-9D1A1EC6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D7DDD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D7DDDA"/>
                </a:solidFill>
                <a:latin typeface="PingFang SC"/>
                <a:ea typeface="PingFang SC"/>
                <a:cs typeface="PingFang SC"/>
              </a:rPr>
              <a:t>长篇创作、世界引擎、节点创作和本地互动实例已经形成初期产品基座，并持续吸收真实用户反馈。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BBA790-B41B-43E6-921E-FA64862C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D7A452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D7A452"/>
                </a:solidFill>
                <a:latin typeface="PingFang SC"/>
                <a:ea typeface="PingFang SC"/>
                <a:cs typeface="PingFang SC"/>
              </a:rPr>
              <a:t>500+ Stars · 近千人社群 · 持续版本迭代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BA04C3-D75F-4640-8555-8E752F60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857375"/>
            <a:ext cx="30861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360826-2F03-473B-90E8-6362146A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097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产品闭环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3FF9FD-F4D2-406A-B4D9-2CC9AD1D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825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完成文字游戏编辑发布、多人跑团和多角色互动。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99C793-1B10-4E23-8FE4-DF60C77B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57375"/>
            <a:ext cx="30861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2A0621-A1A8-443A-BFB5-9FAA3358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公开案例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451C2F-88CB-4780-B199-A4FA77B6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52675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825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建立授权、脱敏的创作者成果库与定量验证体系。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8C3D66-3EED-42DA-B694-CD741144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24175"/>
            <a:ext cx="30861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EE1456-64DD-48CE-AD82-22DA758F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765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协作团队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E09F0A-5A5F-4C64-A231-DDCE537C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19475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825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补充前端、游戏设计、内容运营与社区治理能力。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7B4C89-EC69-4224-965D-C2266C8D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24175"/>
            <a:ext cx="30861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E13D04-7315-4071-AF68-96A5DBF2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765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社区生态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9FC21D-38A6-4C6F-A1D9-DA5ACB04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19475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825" b="0">
                <a:solidFill>
                  <a:srgbClr val="716B6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16B61"/>
                </a:solidFill>
                <a:latin typeface="PingFang SC"/>
                <a:ea typeface="PingFang SC"/>
                <a:cs typeface="PingFang SC"/>
              </a:rPr>
              <a:t>形成世界发布、发现、游玩、改编和共创的最小闭环。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FCBB9B-2E60-410C-918D-70F232BB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143375"/>
            <a:ext cx="63627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05DE93-EB43-4B79-A00F-B27AD621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143375"/>
            <a:ext cx="381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DC832C-47F0-4B7F-BC93-C40014ED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343400"/>
            <a:ext cx="5962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1">
                <a:solidFill>
                  <a:srgbClr val="211F1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1F1B"/>
                </a:solidFill>
                <a:latin typeface="PingFang SC"/>
                <a:ea typeface="PingFang SC"/>
                <a:cs typeface="PingFang SC"/>
              </a:rPr>
              <a:t>入驻后将围绕产品闭环、公开案例和协作团队，加快从开源工具进入可持续产品与社区生态。</a:t>
            </a:r>
          </a:p>
        </p:txBody>
      </p:sp>
    </p:spTree>
    <p:extLst>
      <p:ext uri="{BB962C8B-B14F-4D97-AF65-F5344CB8AC3E}">
        <p14:creationId xmlns:p14="http://schemas.microsoft.com/office/powerpoint/2010/main" val="7026216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0B1F98-30AC-44EB-BF62-043B3A0E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6BA26-5128-40D5-B12E-A128EBB7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02198-419A-410C-8117-2FD2634A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01 项目主题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4A3DA-315C-40B0-B55A-38F28AA8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2CCB8-98F2-4114-BE62-7FDBB2E9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02 核心路径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92106-0C7D-49CE-B26D-9B1E2898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5A84D-5122-4223-A267-F6E7BDF9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03 衍生产品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C63E7-E595-4B83-B08A-8E8BC3DE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DD98D-1E92-4163-A076-4D0006C8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766E63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766E63"/>
                </a:solidFill>
                <a:latin typeface="Menlo"/>
                <a:ea typeface="Menlo"/>
                <a:cs typeface="Menlo"/>
              </a:rPr>
              <a:t>04 市场需求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77153-27EF-46F4-AC96-517307A2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142875"/>
            <a:ext cx="20802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1FFBA-D46F-468E-B2B9-764F1EE8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200025"/>
            <a:ext cx="208026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>
                <a:solidFill>
                  <a:srgbClr val="A45137"/>
                </a:solidFill>
                <a:latin typeface="Menlo"/>
                <a:ea typeface="Menlo"/>
                <a:cs typeface="Menlo"/>
              </a:defRPr>
            </a:pPr>
            <a:r>
              <a:rPr sz="600" b="1">
                <a:solidFill>
                  <a:srgbClr val="A45137"/>
                </a:solidFill>
                <a:latin typeface="Menlo"/>
                <a:ea typeface="Menlo"/>
                <a:cs typeface="Menlo"/>
              </a:rPr>
              <a:t>05 未来愿景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C969FB-1C78-4C92-92BF-B545E85D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A4513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A45137"/>
                </a:solidFill>
                <a:latin typeface="PingFang SC"/>
                <a:ea typeface="PingFang SC"/>
                <a:cs typeface="PingFang SC"/>
              </a:rPr>
              <a:t>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3756AC-00B5-471B-9402-0D9B55C9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53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53A35"/>
                </a:solidFill>
                <a:latin typeface="Songti SC"/>
                <a:ea typeface="Songti SC"/>
                <a:cs typeface="Songti SC"/>
              </a:defRPr>
            </a:pPr>
            <a:r>
              <a:rPr sz="1125" b="1">
                <a:solidFill>
                  <a:srgbClr val="253A35"/>
                </a:solidFill>
                <a:latin typeface="Songti SC"/>
                <a:ea typeface="Songti SC"/>
                <a:cs typeface="Songti SC"/>
              </a:rPr>
              <a:t>storyforge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30FFB-C5FC-4072-9621-991CE259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85775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9B9183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9B9183"/>
                </a:solidFill>
                <a:latin typeface="Menlo"/>
                <a:ea typeface="Menlo"/>
                <a:cs typeface="Menlo"/>
              </a:rPr>
              <a:t>15 / 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7A65C7-1EA7-4652-B430-FCE6D1A8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9239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92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292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StoryForge 希望让一个人从一个想法开始，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92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292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完成一部真正的作品；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92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292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再以世界引擎为基座，让它成为小说、多人跑团、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92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292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角色关系与叙事游戏，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925" b="1">
                <a:solidFill>
                  <a:srgbClr val="211F1B"/>
                </a:solidFill>
                <a:latin typeface="Songti SC"/>
                <a:ea typeface="Songti SC"/>
                <a:cs typeface="Songti SC"/>
              </a:defRPr>
            </a:pPr>
            <a:r>
              <a:rPr sz="2925" b="1">
                <a:solidFill>
                  <a:srgbClr val="211F1B"/>
                </a:solidFill>
                <a:latin typeface="Songti SC"/>
                <a:ea typeface="Songti SC"/>
                <a:cs typeface="Songti SC"/>
              </a:rPr>
              <a:t>最终拥有被共同创造、持续演化的生命。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82D8D5-C188-41B6-9B02-00C7EBC7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48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53A35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53A35"/>
                </a:solidFill>
                <a:latin typeface="Menlo"/>
                <a:ea typeface="Menlo"/>
                <a:cs typeface="Menlo"/>
              </a:rPr>
              <a:t>github.com/yuanbw2025/storyforge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8BC3B8-70B9-42DA-90E1-8CF2FC16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00062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5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0A3FEA-13D7-463B-9E33-9B7A5007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5257800"/>
            <a:ext cx="800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FFFDFA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FFFDFA"/>
                </a:solidFill>
                <a:latin typeface="Songti SC"/>
                <a:ea typeface="Songti SC"/>
                <a:cs typeface="Songti SC"/>
              </a:rPr>
              <a:t>MAKE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FFFDFA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FFFDFA"/>
                </a:solidFill>
                <a:latin typeface="Songti SC"/>
                <a:ea typeface="Songti SC"/>
                <a:cs typeface="Songti SC"/>
              </a:rPr>
              <a:t>WORLDS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FFFDFA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FFFDFA"/>
                </a:solidFill>
                <a:latin typeface="Songti SC"/>
                <a:ea typeface="Songti SC"/>
                <a:cs typeface="Songti SC"/>
              </a:rPr>
              <a:t>LIVE</a:t>
            </a:r>
          </a:p>
        </p:txBody>
      </p:sp>
    </p:spTree>
    <p:extLst>
      <p:ext uri="{BB962C8B-B14F-4D97-AF65-F5344CB8AC3E}">
        <p14:creationId xmlns:p14="http://schemas.microsoft.com/office/powerpoint/2010/main" val="10834162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2026-08-16T08:44:45.8730000Z</dcterms:created>
  <dcterms:modified xsi:type="dcterms:W3CDTF">2026-08-16T08:44:45.8730000Z</dcterms:modified>
</coreProperties>
</file>